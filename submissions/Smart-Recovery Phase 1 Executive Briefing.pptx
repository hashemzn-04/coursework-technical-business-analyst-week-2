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bold r:id="rId19"/>
      <p:boldItalic r:id="rId20"/>
    </p:embeddedFont>
    <p:embeddedFont>
      <p:font typeface="Inter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22" Type="http://schemas.openxmlformats.org/officeDocument/2006/relationships/font" Target="fonts/InterMedium-bold.fntdata"/><Relationship Id="rId10" Type="http://schemas.openxmlformats.org/officeDocument/2006/relationships/slide" Target="slides/slide5.xml"/><Relationship Id="rId21" Type="http://schemas.openxmlformats.org/officeDocument/2006/relationships/font" Target="fonts/InterMedium-regular.fntdata"/><Relationship Id="rId13" Type="http://schemas.openxmlformats.org/officeDocument/2006/relationships/slide" Target="slides/slide8.xml"/><Relationship Id="rId24" Type="http://schemas.openxmlformats.org/officeDocument/2006/relationships/font" Target="fonts/InterMedium-boldItalic.fntdata"/><Relationship Id="rId12" Type="http://schemas.openxmlformats.org/officeDocument/2006/relationships/slide" Target="slides/slide7.xml"/><Relationship Id="rId23" Type="http://schemas.openxmlformats.org/officeDocument/2006/relationships/font" Target="fonts/Inter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409b3c54e26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409b3c54e26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I’m presenting to ask you to approve funding today, and I’ll show exactly why the evidence supports this.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409b3c54e26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409b3c54e26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09b3c54e26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409b3c54e26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09b3c54e26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409b3c54e26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409b3c54e26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409b3c54e26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409b3c54e26_1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409b3c54e26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09b3c54e26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409b3c54e26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409b3c54e26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409b3c54e26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409b3c54e26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409b3c54e26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9b3c54e26_13_0)">
  <p:cSld name="Generated (g409b3c54e26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" name="Google Shape;57;p14"/>
            <p:cNvGrpSpPr/>
            <p:nvPr/>
          </p:nvGrpSpPr>
          <p:grpSpPr>
            <a:xfrm>
              <a:off x="8572500" y="381000"/>
              <a:ext cx="228600" cy="228600"/>
              <a:chOff x="0" y="0"/>
              <a:chExt cx="228600" cy="228600"/>
            </a:xfrm>
          </p:grpSpPr>
          <p:sp>
            <p:nvSpPr>
              <p:cNvPr id="58" name="Google Shape;58;p14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2563EB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0F172A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0" name="Google Shape;60;p14"/>
            <p:cNvSpPr/>
            <p:nvPr/>
          </p:nvSpPr>
          <p:spPr>
            <a:xfrm>
              <a:off x="381000" y="1714500"/>
              <a:ext cx="3810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381000" y="1905000"/>
              <a:ext cx="7620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Smart-Recovery Phase 1: Executive Briefing &amp; Funding Recommendation</a:t>
              </a:r>
              <a:endParaRPr b="1" sz="3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381000" y="3619500"/>
              <a:ext cx="7620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381000" y="381000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Hashem Znati, 2026-08-20 | Prepared for: Operations, Finance &amp; Compliance, Product Leadership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5"/>
          <p:cNvGrpSpPr/>
          <p:nvPr/>
        </p:nvGrpSpPr>
        <p:grpSpPr>
          <a:xfrm>
            <a:off x="8648700" y="342900"/>
            <a:ext cx="171450" cy="171450"/>
            <a:chOff x="0" y="0"/>
            <a:chExt cx="171450" cy="171450"/>
          </a:xfrm>
        </p:grpSpPr>
        <p:sp>
          <p:nvSpPr>
            <p:cNvPr id="69" name="Google Shape;69;p15"/>
            <p:cNvSpPr/>
            <p:nvPr/>
          </p:nvSpPr>
          <p:spPr>
            <a:xfrm>
              <a:off x="0" y="0"/>
              <a:ext cx="114300" cy="114300"/>
            </a:xfrm>
            <a:prstGeom prst="rect">
              <a:avLst/>
            </a:prstGeom>
            <a:solidFill>
              <a:srgbClr val="2563EB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57150" y="57150"/>
              <a:ext cx="114300" cy="1143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15"/>
          <p:cNvSpPr txBox="1"/>
          <p:nvPr/>
        </p:nvSpPr>
        <p:spPr>
          <a:xfrm>
            <a:off x="381000" y="342900"/>
            <a:ext cx="8001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8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Approve a focused Phase 1 Smart-Recovery portal now</a:t>
            </a:r>
            <a:r>
              <a:rPr b="1" lang="en" sz="168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i="0" sz="1680" u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381000" y="1238250"/>
            <a:ext cx="8382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381000" y="1390650"/>
            <a:ext cx="8382000" cy="3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Pillar 01 — Scope</a:t>
            </a:r>
            <a:endParaRPr b="0" sz="900">
              <a:solidFill>
                <a:srgbClr val="2563E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Straightforward Case Automation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Unified profile, automated logging, and self-service portal for 38-53% straightforward cases.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Pillar 02 — Urgency</a:t>
            </a:r>
            <a:endParaRPr b="0" sz="900">
              <a:solidFill>
                <a:srgbClr val="2563E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Legacy Scaling Constraints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100,000+ accounts, 50+ agents, and 15% revenue loss on legacy tools.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Pillar 03 — Credibility</a:t>
            </a:r>
            <a:endParaRPr b="0" sz="900">
              <a:solidFill>
                <a:srgbClr val="2563E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Positive-ROI Foundation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Only positive-ROI (OPP-01, OPP-03) and core self-service included. High-risk features deferred.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295200" y="685725"/>
            <a:ext cx="81726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It pays back on hard savings alone, before any uplift assumption is needed.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6"/>
          <p:cNvGrpSpPr/>
          <p:nvPr/>
        </p:nvGrpSpPr>
        <p:grpSpPr>
          <a:xfrm>
            <a:off x="8610600" y="381000"/>
            <a:ext cx="228600" cy="228600"/>
            <a:chOff x="0" y="0"/>
            <a:chExt cx="228600" cy="228600"/>
          </a:xfrm>
        </p:grpSpPr>
        <p:sp>
          <p:nvSpPr>
            <p:cNvPr id="80" name="Google Shape;80;p16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2563EB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16"/>
          <p:cNvSpPr txBox="1"/>
          <p:nvPr/>
        </p:nvSpPr>
        <p:spPr>
          <a:xfrm>
            <a:off x="381000" y="342900"/>
            <a:ext cx="8001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2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Every week of delay compounds a 15% revenue leak</a:t>
            </a:r>
            <a:endParaRPr b="1" i="0" sz="2220" u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222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across a 100,000+ account portfolio.</a:t>
            </a:r>
            <a:endParaRPr b="1" i="0" sz="2220" u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81000" y="1238250"/>
            <a:ext cx="8382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16"/>
          <p:cNvGrpSpPr/>
          <p:nvPr/>
        </p:nvGrpSpPr>
        <p:grpSpPr>
          <a:xfrm>
            <a:off x="381000" y="1619250"/>
            <a:ext cx="2667000" cy="2667000"/>
            <a:chOff x="0" y="0"/>
            <a:chExt cx="2667000" cy="2667000"/>
          </a:xfrm>
        </p:grpSpPr>
        <p:sp>
          <p:nvSpPr>
            <p:cNvPr id="85" name="Google Shape;85;p16"/>
            <p:cNvSpPr/>
            <p:nvPr/>
          </p:nvSpPr>
          <p:spPr>
            <a:xfrm>
              <a:off x="0" y="0"/>
              <a:ext cx="2667000" cy="26670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0" y="0"/>
              <a:ext cx="2667000" cy="38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228600" y="228600"/>
              <a:ext cx="22098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Scale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42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50+</a:t>
              </a:r>
              <a:endParaRPr b="1" sz="4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Agents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managing legacy tools.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Based on a reconciled 3,426-account sample.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8" name="Google Shape;88;p16"/>
          <p:cNvGrpSpPr/>
          <p:nvPr/>
        </p:nvGrpSpPr>
        <p:grpSpPr>
          <a:xfrm>
            <a:off x="3238500" y="1619250"/>
            <a:ext cx="2667000" cy="2667000"/>
            <a:chOff x="0" y="0"/>
            <a:chExt cx="2667000" cy="2667000"/>
          </a:xfrm>
        </p:grpSpPr>
        <p:sp>
          <p:nvSpPr>
            <p:cNvPr id="89" name="Google Shape;89;p16"/>
            <p:cNvSpPr/>
            <p:nvPr/>
          </p:nvSpPr>
          <p:spPr>
            <a:xfrm>
              <a:off x="0" y="0"/>
              <a:ext cx="2667000" cy="26670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0" y="0"/>
              <a:ext cx="2667000" cy="38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228600" y="228600"/>
              <a:ext cx="22098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Waste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42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10+</a:t>
              </a:r>
              <a:endParaRPr b="1" sz="4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Minutes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per case spent hunting information.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Incurred systematically before active customer contact.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2" name="Google Shape;92;p16"/>
          <p:cNvGrpSpPr/>
          <p:nvPr/>
        </p:nvGrpSpPr>
        <p:grpSpPr>
          <a:xfrm>
            <a:off x="6096000" y="1619250"/>
            <a:ext cx="2667000" cy="2667000"/>
            <a:chOff x="0" y="0"/>
            <a:chExt cx="2667000" cy="2667000"/>
          </a:xfrm>
        </p:grpSpPr>
        <p:sp>
          <p:nvSpPr>
            <p:cNvPr id="93" name="Google Shape;93;p16"/>
            <p:cNvSpPr/>
            <p:nvPr/>
          </p:nvSpPr>
          <p:spPr>
            <a:xfrm>
              <a:off x="0" y="0"/>
              <a:ext cx="2667000" cy="2667000"/>
            </a:xfrm>
            <a:prstGeom prst="roundRect">
              <a:avLst>
                <a:gd fmla="val 285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0" y="0"/>
              <a:ext cx="2667000" cy="381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228600" y="228600"/>
              <a:ext cx="2209800" cy="22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Impact</a:t>
              </a:r>
              <a:endParaRPr b="0" sz="900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420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15%</a:t>
              </a:r>
              <a:endParaRPr b="1" sz="420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Revenue leak</a:t>
              </a: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caused by operational complexity.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Compounded by duplicated effort, missed follow-ups, and inconsistent status codes.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7"/>
          <p:cNvGrpSpPr/>
          <p:nvPr/>
        </p:nvGrpSpPr>
        <p:grpSpPr>
          <a:xfrm>
            <a:off x="8610600" y="381000"/>
            <a:ext cx="228600" cy="228600"/>
            <a:chOff x="0" y="0"/>
            <a:chExt cx="228600" cy="228600"/>
          </a:xfrm>
        </p:grpSpPr>
        <p:sp>
          <p:nvSpPr>
            <p:cNvPr id="101" name="Google Shape;101;p17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2563EB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7"/>
          <p:cNvSpPr txBox="1"/>
          <p:nvPr/>
        </p:nvSpPr>
        <p:spPr>
          <a:xfrm>
            <a:off x="381000" y="3429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Three stakeholder-validated pain points explain nearly all of the leakage.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381000" y="1047750"/>
            <a:ext cx="8382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" name="Google Shape;105;p17"/>
          <p:cNvGrpSpPr/>
          <p:nvPr/>
        </p:nvGrpSpPr>
        <p:grpSpPr>
          <a:xfrm>
            <a:off x="381000" y="1238250"/>
            <a:ext cx="8382000" cy="952500"/>
            <a:chOff x="0" y="0"/>
            <a:chExt cx="8382000" cy="952500"/>
          </a:xfrm>
        </p:grpSpPr>
        <p:sp>
          <p:nvSpPr>
            <p:cNvPr id="106" name="Google Shape;106;p17"/>
            <p:cNvSpPr/>
            <p:nvPr/>
          </p:nvSpPr>
          <p:spPr>
            <a:xfrm>
              <a:off x="0" y="0"/>
              <a:ext cx="8382000" cy="9525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 txBox="1"/>
            <p:nvPr/>
          </p:nvSpPr>
          <p:spPr>
            <a:xfrm>
              <a:off x="228600" y="152400"/>
              <a:ext cx="7924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3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"10+ minutes hunting data per case."</a:t>
              </a:r>
              <a:endParaRPr b="0" i="1" sz="13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SN-037 (Missing Context)</a:t>
              </a:r>
              <a:r>
                <a:rPr b="0" lang="en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 •  Justifies OPP-01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09" name="Google Shape;109;p17"/>
          <p:cNvGrpSpPr/>
          <p:nvPr/>
        </p:nvGrpSpPr>
        <p:grpSpPr>
          <a:xfrm>
            <a:off x="381000" y="2381250"/>
            <a:ext cx="8382000" cy="952500"/>
            <a:chOff x="0" y="0"/>
            <a:chExt cx="8382000" cy="952500"/>
          </a:xfrm>
        </p:grpSpPr>
        <p:sp>
          <p:nvSpPr>
            <p:cNvPr id="110" name="Google Shape;110;p17"/>
            <p:cNvSpPr/>
            <p:nvPr/>
          </p:nvSpPr>
          <p:spPr>
            <a:xfrm>
              <a:off x="0" y="0"/>
              <a:ext cx="8382000" cy="9525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228600" y="152400"/>
              <a:ext cx="7924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3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"Status conflicts and duplicated outreach."</a:t>
              </a:r>
              <a:endParaRPr b="0" i="1" sz="13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SN-038 (No Single Truth)</a:t>
              </a:r>
              <a:r>
                <a:rPr b="0" lang="en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 •  Justifies OPP-03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13" name="Google Shape;113;p17"/>
          <p:cNvGrpSpPr/>
          <p:nvPr/>
        </p:nvGrpSpPr>
        <p:grpSpPr>
          <a:xfrm>
            <a:off x="381000" y="3524250"/>
            <a:ext cx="8382000" cy="952500"/>
            <a:chOff x="0" y="0"/>
            <a:chExt cx="8382000" cy="952500"/>
          </a:xfrm>
        </p:grpSpPr>
        <p:sp>
          <p:nvSpPr>
            <p:cNvPr id="114" name="Google Shape;114;p17"/>
            <p:cNvSpPr/>
            <p:nvPr/>
          </p:nvSpPr>
          <p:spPr>
            <a:xfrm>
              <a:off x="0" y="0"/>
              <a:ext cx="8382000" cy="9525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0" y="0"/>
              <a:ext cx="38100" cy="9525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228600" y="152400"/>
              <a:ext cx="79248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3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"Demand for past interaction records."</a:t>
              </a:r>
              <a:endParaRPr b="0" i="1" sz="13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SN-001/SN-002 (Customer Transparency)</a:t>
              </a:r>
              <a:r>
                <a:rPr b="0" lang="en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 •  Justifies self-service portal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22" name="Google Shape;122;p18"/>
            <p:cNvSpPr txBox="1"/>
            <p:nvPr/>
          </p:nvSpPr>
          <p:spPr>
            <a:xfrm>
              <a:off x="381000" y="342900"/>
              <a:ext cx="8001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22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Two opportunities pay back on time savings alone; the rest are credible upside, not the basis for approval.</a:t>
              </a:r>
              <a:endParaRPr b="1" i="0" sz="222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4" name="Google Shape;124;p18"/>
            <p:cNvGrpSpPr/>
            <p:nvPr/>
          </p:nvGrpSpPr>
          <p:grpSpPr>
            <a:xfrm>
              <a:off x="8610600" y="381000"/>
              <a:ext cx="228600" cy="228600"/>
              <a:chOff x="0" y="0"/>
              <a:chExt cx="228600" cy="228600"/>
            </a:xfrm>
          </p:grpSpPr>
          <p:sp>
            <p:nvSpPr>
              <p:cNvPr id="125" name="Google Shape;125;p18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2563EB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8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0F172A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7" name="Google Shape;127;p18"/>
            <p:cNvSpPr/>
            <p:nvPr/>
          </p:nvSpPr>
          <p:spPr>
            <a:xfrm>
              <a:off x="381000" y="1238250"/>
              <a:ext cx="83820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" name="Google Shape;128;p18"/>
          <p:cNvGrpSpPr/>
          <p:nvPr/>
        </p:nvGrpSpPr>
        <p:grpSpPr>
          <a:xfrm>
            <a:off x="381000" y="1428750"/>
            <a:ext cx="4000500" cy="952500"/>
            <a:chOff x="0" y="0"/>
            <a:chExt cx="4000500" cy="952500"/>
          </a:xfrm>
        </p:grpSpPr>
        <p:sp>
          <p:nvSpPr>
            <p:cNvPr id="129" name="Google Shape;129;p18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0" name="Google Shape;130;p18"/>
            <p:cNvGrpSpPr/>
            <p:nvPr/>
          </p:nvGrpSpPr>
          <p:grpSpPr>
            <a:xfrm>
              <a:off x="152400" y="361950"/>
              <a:ext cx="228600" cy="228600"/>
              <a:chOff x="0" y="0"/>
              <a:chExt cx="228600" cy="228600"/>
            </a:xfrm>
          </p:grpSpPr>
          <p:sp>
            <p:nvSpPr>
              <p:cNvPr id="131" name="Google Shape;131;p18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059669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8"/>
              <p:cNvSpPr/>
              <p:nvPr/>
            </p:nvSpPr>
            <p:spPr>
              <a:xfrm>
                <a:off x="66675" y="80975"/>
                <a:ext cx="954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71"/>
                    </a:moveTo>
                    <a:lnTo>
                      <a:pt x="36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/>
              </a:solidFill>
              <a:ln cap="rnd" cmpd="sng" w="19050">
                <a:solidFill>
                  <a:srgbClr val="0596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3" name="Google Shape;133;p18"/>
            <p:cNvSpPr txBox="1"/>
            <p:nvPr/>
          </p:nvSpPr>
          <p:spPr>
            <a:xfrm>
              <a:off x="495300" y="114300"/>
              <a:ext cx="3352800" cy="72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 u="none" strike="noStrike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OPP-01: UNIFIED PROFILE (POSITIVE ROI)</a:t>
              </a:r>
              <a:endParaRPr b="0" i="0" sz="850" u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" sz="130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10-14 min/case saved</a:t>
              </a:r>
              <a:endParaRPr b="0" i="0" sz="850" u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0" lang="en" sz="95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Direct payback on time savings alone.</a:t>
              </a:r>
              <a:endParaRPr b="0" i="0" sz="850" u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34" name="Google Shape;134;p18"/>
          <p:cNvGrpSpPr/>
          <p:nvPr/>
        </p:nvGrpSpPr>
        <p:grpSpPr>
          <a:xfrm>
            <a:off x="381000" y="2524125"/>
            <a:ext cx="4000500" cy="952500"/>
            <a:chOff x="0" y="0"/>
            <a:chExt cx="4000500" cy="952500"/>
          </a:xfrm>
        </p:grpSpPr>
        <p:sp>
          <p:nvSpPr>
            <p:cNvPr id="135" name="Google Shape;135;p18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6" name="Google Shape;136;p18"/>
            <p:cNvGrpSpPr/>
            <p:nvPr/>
          </p:nvGrpSpPr>
          <p:grpSpPr>
            <a:xfrm>
              <a:off x="152400" y="361950"/>
              <a:ext cx="228600" cy="228600"/>
              <a:chOff x="0" y="0"/>
              <a:chExt cx="228600" cy="228600"/>
            </a:xfrm>
          </p:grpSpPr>
          <p:sp>
            <p:nvSpPr>
              <p:cNvPr id="137" name="Google Shape;137;p18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059669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8"/>
              <p:cNvSpPr/>
              <p:nvPr/>
            </p:nvSpPr>
            <p:spPr>
              <a:xfrm>
                <a:off x="66675" y="80975"/>
                <a:ext cx="954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71"/>
                    </a:moveTo>
                    <a:lnTo>
                      <a:pt x="36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/>
              </a:solidFill>
              <a:ln cap="rnd" cmpd="sng" w="19050">
                <a:solidFill>
                  <a:srgbClr val="0596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" name="Google Shape;139;p18"/>
            <p:cNvSpPr txBox="1"/>
            <p:nvPr/>
          </p:nvSpPr>
          <p:spPr>
            <a:xfrm>
              <a:off x="495300" y="114300"/>
              <a:ext cx="3352800" cy="72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 u="none" strike="noStrike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OPP-03: AUTOMATED LOGGING (POSITIVE ROI)</a:t>
              </a:r>
              <a:endParaRPr b="0" i="0" sz="850" u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" sz="130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4-6 min/case saved</a:t>
              </a:r>
              <a:endParaRPr b="0" i="0" sz="850" u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0" lang="en" sz="95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Direct payback on time savings alone.</a:t>
              </a:r>
              <a:endParaRPr b="0" i="0" sz="850" u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40" name="Google Shape;140;p18"/>
          <p:cNvGrpSpPr/>
          <p:nvPr/>
        </p:nvGrpSpPr>
        <p:grpSpPr>
          <a:xfrm>
            <a:off x="381000" y="3619500"/>
            <a:ext cx="4000500" cy="952500"/>
            <a:chOff x="0" y="0"/>
            <a:chExt cx="4000500" cy="952500"/>
          </a:xfrm>
        </p:grpSpPr>
        <p:sp>
          <p:nvSpPr>
            <p:cNvPr id="141" name="Google Shape;141;p18"/>
            <p:cNvSpPr/>
            <p:nvPr/>
          </p:nvSpPr>
          <p:spPr>
            <a:xfrm>
              <a:off x="0" y="0"/>
              <a:ext cx="4000500" cy="9525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2" name="Google Shape;142;p18"/>
            <p:cNvGrpSpPr/>
            <p:nvPr/>
          </p:nvGrpSpPr>
          <p:grpSpPr>
            <a:xfrm>
              <a:off x="152400" y="361950"/>
              <a:ext cx="228600" cy="228600"/>
              <a:chOff x="0" y="0"/>
              <a:chExt cx="228600" cy="228600"/>
            </a:xfrm>
          </p:grpSpPr>
          <p:sp>
            <p:nvSpPr>
              <p:cNvPr id="143" name="Google Shape;143;p18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97706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8"/>
              <p:cNvSpPr/>
              <p:nvPr/>
            </p:nvSpPr>
            <p:spPr>
              <a:xfrm>
                <a:off x="114300" y="66675"/>
                <a:ext cx="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2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/>
              </a:solidFill>
              <a:ln cap="rnd" cmpd="sng" w="19050">
                <a:solidFill>
                  <a:srgbClr val="D9770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5" name="Google Shape;145;p18"/>
            <p:cNvSpPr txBox="1"/>
            <p:nvPr/>
          </p:nvSpPr>
          <p:spPr>
            <a:xfrm>
              <a:off x="495300" y="114300"/>
              <a:ext cx="3352800" cy="72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 u="none" strike="noStrike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OPP-02: SELF-SERVICE 40% SCOPE (NEGATIVE BASE-CASE ROI)</a:t>
              </a:r>
              <a:endParaRPr b="0" i="0" sz="850" u="none" strike="noStrike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" sz="130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8-14 min avoided</a:t>
              </a:r>
              <a:endParaRPr b="0" i="0" sz="850" u="none" strike="noStrike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0" lang="en" sz="950" u="none" strike="noStrik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Credible upside, not the basis for initial approval.</a:t>
              </a:r>
              <a:endParaRPr b="0" i="0" sz="850" u="none" strike="noStrike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46" name="Google Shape;146;p18"/>
          <p:cNvGrpSpPr/>
          <p:nvPr/>
        </p:nvGrpSpPr>
        <p:grpSpPr>
          <a:xfrm>
            <a:off x="4753200" y="1419425"/>
            <a:ext cx="4000500" cy="3152725"/>
            <a:chOff x="4753200" y="1324175"/>
            <a:chExt cx="4000500" cy="3152725"/>
          </a:xfrm>
        </p:grpSpPr>
        <p:sp>
          <p:nvSpPr>
            <p:cNvPr id="147" name="Google Shape;147;p18"/>
            <p:cNvSpPr/>
            <p:nvPr/>
          </p:nvSpPr>
          <p:spPr>
            <a:xfrm>
              <a:off x="4753200" y="1324175"/>
              <a:ext cx="4000500" cy="3143400"/>
            </a:xfrm>
            <a:prstGeom prst="roundRect">
              <a:avLst>
                <a:gd fmla="val 2423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4762500" y="1333500"/>
              <a:ext cx="38100" cy="31434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5000625" y="1524000"/>
              <a:ext cx="35244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50" u="none" strike="noStrike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PORTFOLIO IMPACT</a:t>
              </a:r>
              <a:endParaRPr b="0" i="0" sz="850" u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" sz="150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Broad Portfolio Savings</a:t>
              </a:r>
              <a:endParaRPr b="0" i="0" sz="850" u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50" name="Google Shape;150;p18"/>
            <p:cNvGrpSpPr/>
            <p:nvPr/>
          </p:nvGrpSpPr>
          <p:grpSpPr>
            <a:xfrm>
              <a:off x="5034150" y="2552375"/>
              <a:ext cx="1619100" cy="1047900"/>
              <a:chOff x="33525" y="409250"/>
              <a:chExt cx="1619100" cy="1047900"/>
            </a:xfrm>
          </p:grpSpPr>
          <p:sp>
            <p:nvSpPr>
              <p:cNvPr id="151" name="Google Shape;151;p18"/>
              <p:cNvSpPr/>
              <p:nvPr/>
            </p:nvSpPr>
            <p:spPr>
              <a:xfrm>
                <a:off x="33525" y="409250"/>
                <a:ext cx="1619100" cy="1047900"/>
              </a:xfrm>
              <a:prstGeom prst="roundRect">
                <a:avLst>
                  <a:gd fmla="val 545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8"/>
              <p:cNvSpPr txBox="1"/>
              <p:nvPr/>
            </p:nvSpPr>
            <p:spPr>
              <a:xfrm>
                <a:off x="166725" y="542600"/>
                <a:ext cx="1352700" cy="7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600" u="none" strike="noStrike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38%</a:t>
                </a:r>
                <a:endParaRPr b="1" i="0" sz="2600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i="0" lang="en" sz="950" u="none" strike="noStrike">
                    <a:solidFill>
                      <a:srgbClr val="4755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Straightforward accounts segment</a:t>
                </a:r>
                <a:endParaRPr b="1" i="0" sz="950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3" name="Google Shape;153;p18"/>
            <p:cNvGrpSpPr/>
            <p:nvPr/>
          </p:nvGrpSpPr>
          <p:grpSpPr>
            <a:xfrm>
              <a:off x="6753450" y="2552375"/>
              <a:ext cx="1762200" cy="1047900"/>
              <a:chOff x="-9300" y="409250"/>
              <a:chExt cx="1762200" cy="1047900"/>
            </a:xfrm>
          </p:grpSpPr>
          <p:sp>
            <p:nvSpPr>
              <p:cNvPr id="154" name="Google Shape;154;p18"/>
              <p:cNvSpPr/>
              <p:nvPr/>
            </p:nvSpPr>
            <p:spPr>
              <a:xfrm>
                <a:off x="-9300" y="409250"/>
                <a:ext cx="1762200" cy="1047900"/>
              </a:xfrm>
              <a:prstGeom prst="roundRect">
                <a:avLst>
                  <a:gd fmla="val 545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8"/>
              <p:cNvSpPr txBox="1"/>
              <p:nvPr/>
            </p:nvSpPr>
            <p:spPr>
              <a:xfrm>
                <a:off x="124050" y="542600"/>
                <a:ext cx="1495500" cy="7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600" u="none" strike="noStrike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~25 min</a:t>
                </a:r>
                <a:endParaRPr b="1" i="0" sz="2600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i="0" lang="en" sz="950" u="none" strike="noStrike">
                    <a:solidFill>
                      <a:srgbClr val="47556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Blended savings across all cases</a:t>
                </a:r>
                <a:endParaRPr b="1" i="0" sz="950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156" name="Google Shape;156;p18"/>
            <p:cNvSpPr txBox="1"/>
            <p:nvPr/>
          </p:nvSpPr>
          <p:spPr>
            <a:xfrm>
              <a:off x="5000625" y="3381375"/>
              <a:ext cx="35244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50" u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57" name="Google Shape;157;p18"/>
          <p:cNvSpPr txBox="1"/>
          <p:nvPr/>
        </p:nvSpPr>
        <p:spPr>
          <a:xfrm>
            <a:off x="339800" y="352201"/>
            <a:ext cx="8001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figures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Th</a:t>
            </a:r>
            <a:r>
              <a:rPr lang="en" sz="11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ese are savings just from phase 1.</a:t>
            </a:r>
            <a:endParaRPr sz="115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OPP: Refers to automation opportunities</a:t>
            </a:r>
            <a:endParaRPr sz="115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9"/>
          <p:cNvGrpSpPr/>
          <p:nvPr/>
        </p:nvGrpSpPr>
        <p:grpSpPr>
          <a:xfrm>
            <a:off x="8610600" y="342900"/>
            <a:ext cx="228600" cy="228600"/>
            <a:chOff x="0" y="0"/>
            <a:chExt cx="228600" cy="228600"/>
          </a:xfrm>
        </p:grpSpPr>
        <p:sp>
          <p:nvSpPr>
            <p:cNvPr id="163" name="Google Shape;163;p19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2563EB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" name="Google Shape;165;p19"/>
          <p:cNvSpPr txBox="1"/>
          <p:nvPr/>
        </p:nvSpPr>
        <p:spPr>
          <a:xfrm>
            <a:off x="381000" y="342900"/>
            <a:ext cx="8001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System Boundary &amp; Scope Definition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1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This is deliberately the smallest system that still delivers the two proven wins.</a:t>
            </a:r>
            <a:endParaRPr b="0" sz="115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81000" y="1238250"/>
            <a:ext cx="8382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" name="Google Shape;167;p19"/>
          <p:cNvGrpSpPr/>
          <p:nvPr/>
        </p:nvGrpSpPr>
        <p:grpSpPr>
          <a:xfrm>
            <a:off x="381000" y="1476375"/>
            <a:ext cx="4000500" cy="3048000"/>
            <a:chOff x="0" y="0"/>
            <a:chExt cx="4000500" cy="3048000"/>
          </a:xfrm>
        </p:grpSpPr>
        <p:sp>
          <p:nvSpPr>
            <p:cNvPr id="168" name="Google Shape;168;p19"/>
            <p:cNvSpPr/>
            <p:nvPr/>
          </p:nvSpPr>
          <p:spPr>
            <a:xfrm>
              <a:off x="0" y="0"/>
              <a:ext cx="4000500" cy="3048000"/>
            </a:xfrm>
            <a:prstGeom prst="roundRect">
              <a:avLst>
                <a:gd fmla="val 187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0" y="0"/>
              <a:ext cx="4000500" cy="381000"/>
            </a:xfrm>
            <a:custGeom>
              <a:rect b="b" l="l" r="r" t="t"/>
              <a:pathLst>
                <a:path extrusionOk="0" h="120000" w="120000">
                  <a:moveTo>
                    <a:pt x="0" y="18000"/>
                  </a:moveTo>
                  <a:cubicBezTo>
                    <a:pt x="0" y="13226"/>
                    <a:pt x="181" y="8648"/>
                    <a:pt x="502" y="5272"/>
                  </a:cubicBezTo>
                  <a:cubicBezTo>
                    <a:pt x="824" y="1896"/>
                    <a:pt x="1260" y="0"/>
                    <a:pt x="1714" y="0"/>
                  </a:cubicBezTo>
                  <a:lnTo>
                    <a:pt x="118286" y="0"/>
                  </a:lnTo>
                  <a:cubicBezTo>
                    <a:pt x="119233" y="2"/>
                    <a:pt x="120000" y="8060"/>
                    <a:pt x="120000" y="1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190500" y="76200"/>
              <a:ext cx="36195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 Scope — Core Deliverables</a:t>
              </a:r>
              <a:endParaRPr b="1" sz="1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228600" y="571500"/>
              <a:ext cx="35433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lang="en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Identity verification</a:t>
              </a:r>
              <a:endParaRPr sz="1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lang="en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Account summary</a:t>
              </a:r>
              <a:endParaRPr sz="1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lang="en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Unified profile (OPP-01)</a:t>
              </a:r>
              <a:endParaRPr sz="1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lang="en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Logging activity (OPP-03)</a:t>
              </a:r>
              <a:endParaRPr sz="1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lang="en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Promise-to-pay capture (OPP-05 first half)</a:t>
              </a:r>
              <a:endParaRPr sz="1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✓</a:t>
              </a:r>
              <a:r>
                <a:rPr lang="en" sz="11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Portal reporting</a:t>
              </a:r>
              <a:endParaRPr sz="11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2" name="Google Shape;172;p19"/>
          <p:cNvGrpSpPr/>
          <p:nvPr/>
        </p:nvGrpSpPr>
        <p:grpSpPr>
          <a:xfrm>
            <a:off x="4762500" y="1476375"/>
            <a:ext cx="4000500" cy="3048000"/>
            <a:chOff x="0" y="0"/>
            <a:chExt cx="4000500" cy="3048000"/>
          </a:xfrm>
        </p:grpSpPr>
        <p:sp>
          <p:nvSpPr>
            <p:cNvPr id="173" name="Google Shape;173;p19"/>
            <p:cNvSpPr/>
            <p:nvPr/>
          </p:nvSpPr>
          <p:spPr>
            <a:xfrm>
              <a:off x="0" y="0"/>
              <a:ext cx="4000500" cy="3048000"/>
            </a:xfrm>
            <a:prstGeom prst="roundRect">
              <a:avLst>
                <a:gd fmla="val 187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0" y="0"/>
              <a:ext cx="4000500" cy="381000"/>
            </a:xfrm>
            <a:custGeom>
              <a:rect b="b" l="l" r="r" t="t"/>
              <a:pathLst>
                <a:path extrusionOk="0" h="120000" w="120000">
                  <a:moveTo>
                    <a:pt x="0" y="18000"/>
                  </a:moveTo>
                  <a:cubicBezTo>
                    <a:pt x="0" y="13226"/>
                    <a:pt x="181" y="8648"/>
                    <a:pt x="502" y="5272"/>
                  </a:cubicBezTo>
                  <a:cubicBezTo>
                    <a:pt x="824" y="1896"/>
                    <a:pt x="1260" y="0"/>
                    <a:pt x="1714" y="0"/>
                  </a:cubicBezTo>
                  <a:lnTo>
                    <a:pt x="118286" y="0"/>
                  </a:lnTo>
                  <a:cubicBezTo>
                    <a:pt x="119233" y="2"/>
                    <a:pt x="120000" y="8060"/>
                    <a:pt x="120000" y="18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190500" y="76200"/>
              <a:ext cx="36195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Out of Scope — Future Phases</a:t>
              </a:r>
              <a:endParaRPr b="1" sz="11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228600" y="571500"/>
              <a:ext cx="35433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✕</a:t>
              </a:r>
              <a:r>
                <a:rPr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Hardship / legal cases</a:t>
              </a:r>
              <a:endParaRPr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✕</a:t>
              </a:r>
              <a:r>
                <a:rPr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Full payment-plan enrollment (OPP-04)</a:t>
              </a:r>
              <a:endParaRPr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✕</a:t>
              </a:r>
              <a:r>
                <a:rPr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Auto-escalation (OPP-05 second half)</a:t>
              </a:r>
              <a:endParaRPr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rPr>
                <a:t>✕</a:t>
              </a:r>
              <a:r>
                <a:rPr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Proactive outreach (OPP-07)</a:t>
              </a:r>
              <a:endParaRPr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0"/>
          <p:cNvGrpSpPr/>
          <p:nvPr/>
        </p:nvGrpSpPr>
        <p:grpSpPr>
          <a:xfrm>
            <a:off x="8591550" y="361950"/>
            <a:ext cx="171450" cy="171450"/>
            <a:chOff x="0" y="0"/>
            <a:chExt cx="171450" cy="171450"/>
          </a:xfrm>
        </p:grpSpPr>
        <p:sp>
          <p:nvSpPr>
            <p:cNvPr id="182" name="Google Shape;182;p20"/>
            <p:cNvSpPr/>
            <p:nvPr/>
          </p:nvSpPr>
          <p:spPr>
            <a:xfrm>
              <a:off x="0" y="0"/>
              <a:ext cx="114300" cy="114300"/>
            </a:xfrm>
            <a:prstGeom prst="rect">
              <a:avLst/>
            </a:prstGeom>
            <a:solidFill>
              <a:srgbClr val="2563EB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57150" y="57150"/>
              <a:ext cx="114300" cy="1143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" name="Google Shape;184;p20"/>
          <p:cNvSpPr txBox="1"/>
          <p:nvPr/>
        </p:nvSpPr>
        <p:spPr>
          <a:xfrm>
            <a:off x="381000" y="342900"/>
            <a:ext cx="8001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adoption risks are known, and Phase 1's scope already mitigates the biggest ones.</a:t>
            </a:r>
            <a:endParaRPr b="1" i="0" sz="2400" u="none" strike="noStrike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81000" y="1238250"/>
            <a:ext cx="8382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" name="Google Shape;186;p20"/>
          <p:cNvGrpSpPr/>
          <p:nvPr/>
        </p:nvGrpSpPr>
        <p:grpSpPr>
          <a:xfrm>
            <a:off x="381000" y="1381125"/>
            <a:ext cx="8382000" cy="762000"/>
            <a:chOff x="0" y="0"/>
            <a:chExt cx="8382000" cy="762000"/>
          </a:xfrm>
        </p:grpSpPr>
        <p:sp>
          <p:nvSpPr>
            <p:cNvPr id="187" name="Google Shape;187;p20"/>
            <p:cNvSpPr/>
            <p:nvPr/>
          </p:nvSpPr>
          <p:spPr>
            <a:xfrm>
              <a:off x="0" y="0"/>
              <a:ext cx="8382000" cy="762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8" name="Google Shape;188;p20"/>
            <p:cNvGrpSpPr/>
            <p:nvPr/>
          </p:nvGrpSpPr>
          <p:grpSpPr>
            <a:xfrm>
              <a:off x="190500" y="266700"/>
              <a:ext cx="228600" cy="228600"/>
              <a:chOff x="0" y="0"/>
              <a:chExt cx="228600" cy="228600"/>
            </a:xfrm>
          </p:grpSpPr>
          <p:sp>
            <p:nvSpPr>
              <p:cNvPr id="189" name="Google Shape;189;p20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97706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20"/>
              <p:cNvSpPr/>
              <p:nvPr/>
            </p:nvSpPr>
            <p:spPr>
              <a:xfrm>
                <a:off x="114300" y="66675"/>
                <a:ext cx="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2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/>
              </a:solidFill>
              <a:ln cap="rnd" cmpd="sng" w="19050">
                <a:solidFill>
                  <a:srgbClr val="D9770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1" name="Google Shape;191;p20"/>
            <p:cNvSpPr txBox="1"/>
            <p:nvPr/>
          </p:nvSpPr>
          <p:spPr>
            <a:xfrm>
              <a:off x="533400" y="142875"/>
              <a:ext cx="3619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strike="noStrike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RISK TYPE</a:t>
              </a:r>
              <a:endParaRPr b="0" i="0" sz="800" u="none" strike="noStrike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1" i="0" lang="en" sz="110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Agent Trust</a:t>
              </a:r>
              <a:endParaRPr b="0" i="0" sz="800" u="none" strike="noStrike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4333875" y="142875"/>
              <a:ext cx="9600" cy="4764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3" name="Google Shape;193;p20"/>
            <p:cNvGrpSpPr/>
            <p:nvPr/>
          </p:nvGrpSpPr>
          <p:grpSpPr>
            <a:xfrm>
              <a:off x="4524375" y="266700"/>
              <a:ext cx="228600" cy="228600"/>
              <a:chOff x="0" y="0"/>
              <a:chExt cx="228600" cy="228600"/>
            </a:xfrm>
          </p:grpSpPr>
          <p:sp>
            <p:nvSpPr>
              <p:cNvPr id="194" name="Google Shape;194;p20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059669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20"/>
              <p:cNvSpPr/>
              <p:nvPr/>
            </p:nvSpPr>
            <p:spPr>
              <a:xfrm>
                <a:off x="66675" y="80975"/>
                <a:ext cx="954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71"/>
                    </a:moveTo>
                    <a:lnTo>
                      <a:pt x="36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/>
              </a:solidFill>
              <a:ln cap="rnd" cmpd="sng" w="19050">
                <a:solidFill>
                  <a:srgbClr val="0596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6" name="Google Shape;196;p20"/>
            <p:cNvSpPr txBox="1"/>
            <p:nvPr/>
          </p:nvSpPr>
          <p:spPr>
            <a:xfrm>
              <a:off x="4905375" y="114300"/>
              <a:ext cx="32862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strike="noStrike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PHASE 1 MITIGATION</a:t>
              </a:r>
              <a:endParaRPr b="0" i="0" sz="800" u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0" i="0" lang="en" sz="1100" u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Solved via eligibility gateway and full-context handoffs.</a:t>
              </a:r>
              <a:endParaRPr b="0" i="0" sz="800" u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97" name="Google Shape;197;p20"/>
          <p:cNvGrpSpPr/>
          <p:nvPr/>
        </p:nvGrpSpPr>
        <p:grpSpPr>
          <a:xfrm>
            <a:off x="381000" y="2257425"/>
            <a:ext cx="8382000" cy="762000"/>
            <a:chOff x="0" y="0"/>
            <a:chExt cx="8382000" cy="762000"/>
          </a:xfrm>
        </p:grpSpPr>
        <p:sp>
          <p:nvSpPr>
            <p:cNvPr id="198" name="Google Shape;198;p20"/>
            <p:cNvSpPr/>
            <p:nvPr/>
          </p:nvSpPr>
          <p:spPr>
            <a:xfrm>
              <a:off x="0" y="0"/>
              <a:ext cx="8382000" cy="762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9" name="Google Shape;199;p20"/>
            <p:cNvGrpSpPr/>
            <p:nvPr/>
          </p:nvGrpSpPr>
          <p:grpSpPr>
            <a:xfrm>
              <a:off x="190500" y="266700"/>
              <a:ext cx="228600" cy="228600"/>
              <a:chOff x="0" y="0"/>
              <a:chExt cx="228600" cy="228600"/>
            </a:xfrm>
          </p:grpSpPr>
          <p:sp>
            <p:nvSpPr>
              <p:cNvPr id="200" name="Google Shape;200;p20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97706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>
                <a:off x="114300" y="66675"/>
                <a:ext cx="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2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/>
              </a:solidFill>
              <a:ln cap="rnd" cmpd="sng" w="19050">
                <a:solidFill>
                  <a:srgbClr val="D9770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2" name="Google Shape;202;p20"/>
            <p:cNvSpPr txBox="1"/>
            <p:nvPr/>
          </p:nvSpPr>
          <p:spPr>
            <a:xfrm>
              <a:off x="533400" y="142875"/>
              <a:ext cx="3619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strike="noStrike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RISK TYPE</a:t>
              </a:r>
              <a:endParaRPr b="0" i="0" sz="800" u="none" strike="noStrike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1" i="0" lang="en" sz="110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Compliance</a:t>
              </a:r>
              <a:endParaRPr b="0" i="0" sz="800" u="none" strike="noStrike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4333875" y="142875"/>
              <a:ext cx="9600" cy="4764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4" name="Google Shape;204;p20"/>
            <p:cNvGrpSpPr/>
            <p:nvPr/>
          </p:nvGrpSpPr>
          <p:grpSpPr>
            <a:xfrm>
              <a:off x="4524375" y="266700"/>
              <a:ext cx="228600" cy="228600"/>
              <a:chOff x="0" y="0"/>
              <a:chExt cx="228600" cy="228600"/>
            </a:xfrm>
          </p:grpSpPr>
          <p:sp>
            <p:nvSpPr>
              <p:cNvPr id="205" name="Google Shape;205;p20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059669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0"/>
              <p:cNvSpPr/>
              <p:nvPr/>
            </p:nvSpPr>
            <p:spPr>
              <a:xfrm>
                <a:off x="66675" y="80975"/>
                <a:ext cx="954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71"/>
                    </a:moveTo>
                    <a:lnTo>
                      <a:pt x="36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/>
              </a:solidFill>
              <a:ln cap="rnd" cmpd="sng" w="19050">
                <a:solidFill>
                  <a:srgbClr val="0596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7" name="Google Shape;207;p20"/>
            <p:cNvSpPr txBox="1"/>
            <p:nvPr/>
          </p:nvSpPr>
          <p:spPr>
            <a:xfrm>
              <a:off x="4905375" y="114300"/>
              <a:ext cx="32862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strike="noStrike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PHASE 1 MITIGATION</a:t>
              </a:r>
              <a:endParaRPr b="0" i="0" sz="800" u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0" i="0" lang="en" sz="1100" u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SMS/email verification scope requires rapid sign-off (no existing IAM).</a:t>
              </a:r>
              <a:endParaRPr b="0" i="0" sz="800" u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381000" y="3133725"/>
            <a:ext cx="8382000" cy="762000"/>
            <a:chOff x="0" y="0"/>
            <a:chExt cx="8382000" cy="762000"/>
          </a:xfrm>
        </p:grpSpPr>
        <p:sp>
          <p:nvSpPr>
            <p:cNvPr id="209" name="Google Shape;209;p20"/>
            <p:cNvSpPr/>
            <p:nvPr/>
          </p:nvSpPr>
          <p:spPr>
            <a:xfrm>
              <a:off x="0" y="0"/>
              <a:ext cx="8382000" cy="762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0" name="Google Shape;210;p20"/>
            <p:cNvGrpSpPr/>
            <p:nvPr/>
          </p:nvGrpSpPr>
          <p:grpSpPr>
            <a:xfrm>
              <a:off x="190500" y="266700"/>
              <a:ext cx="228600" cy="228600"/>
              <a:chOff x="0" y="0"/>
              <a:chExt cx="228600" cy="228600"/>
            </a:xfrm>
          </p:grpSpPr>
          <p:sp>
            <p:nvSpPr>
              <p:cNvPr id="211" name="Google Shape;211;p20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97706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>
                <a:off x="114300" y="66675"/>
                <a:ext cx="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2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/>
              </a:solidFill>
              <a:ln cap="rnd" cmpd="sng" w="19050">
                <a:solidFill>
                  <a:srgbClr val="D9770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3" name="Google Shape;213;p20"/>
            <p:cNvSpPr txBox="1"/>
            <p:nvPr/>
          </p:nvSpPr>
          <p:spPr>
            <a:xfrm>
              <a:off x="533400" y="142875"/>
              <a:ext cx="3619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strike="noStrike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RISK TYPE</a:t>
              </a:r>
              <a:endParaRPr b="0" i="0" sz="800" u="none" strike="noStrike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1" i="0" lang="en" sz="110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Ops Visibility</a:t>
              </a:r>
              <a:endParaRPr b="0" i="0" sz="800" u="none" strike="noStrike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4333875" y="142875"/>
              <a:ext cx="9600" cy="4764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5" name="Google Shape;215;p20"/>
            <p:cNvGrpSpPr/>
            <p:nvPr/>
          </p:nvGrpSpPr>
          <p:grpSpPr>
            <a:xfrm>
              <a:off x="4524375" y="266700"/>
              <a:ext cx="228600" cy="228600"/>
              <a:chOff x="0" y="0"/>
              <a:chExt cx="228600" cy="228600"/>
            </a:xfrm>
          </p:grpSpPr>
          <p:sp>
            <p:nvSpPr>
              <p:cNvPr id="216" name="Google Shape;216;p20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059669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0"/>
              <p:cNvSpPr/>
              <p:nvPr/>
            </p:nvSpPr>
            <p:spPr>
              <a:xfrm>
                <a:off x="66675" y="80975"/>
                <a:ext cx="954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71"/>
                    </a:moveTo>
                    <a:lnTo>
                      <a:pt x="36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/>
              </a:solidFill>
              <a:ln cap="rnd" cmpd="sng" w="19050">
                <a:solidFill>
                  <a:srgbClr val="0596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8" name="Google Shape;218;p20"/>
            <p:cNvSpPr txBox="1"/>
            <p:nvPr/>
          </p:nvSpPr>
          <p:spPr>
            <a:xfrm>
              <a:off x="4905375" y="114300"/>
              <a:ext cx="32862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strike="noStrike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PHASE 1 MITIGATION</a:t>
              </a:r>
              <a:endParaRPr b="0" i="0" sz="800" u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0" i="0" lang="en" sz="1100" u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Real-time shared dashboards replace manual reconciliation.</a:t>
              </a:r>
              <a:endParaRPr b="0" i="0" sz="800" u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19" name="Google Shape;219;p20"/>
          <p:cNvGrpSpPr/>
          <p:nvPr/>
        </p:nvGrpSpPr>
        <p:grpSpPr>
          <a:xfrm>
            <a:off x="381000" y="4010025"/>
            <a:ext cx="8382000" cy="762000"/>
            <a:chOff x="0" y="0"/>
            <a:chExt cx="8382000" cy="762000"/>
          </a:xfrm>
        </p:grpSpPr>
        <p:sp>
          <p:nvSpPr>
            <p:cNvPr id="220" name="Google Shape;220;p20"/>
            <p:cNvSpPr/>
            <p:nvPr/>
          </p:nvSpPr>
          <p:spPr>
            <a:xfrm>
              <a:off x="0" y="0"/>
              <a:ext cx="8382000" cy="762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1" name="Google Shape;221;p20"/>
            <p:cNvGrpSpPr/>
            <p:nvPr/>
          </p:nvGrpSpPr>
          <p:grpSpPr>
            <a:xfrm>
              <a:off x="190500" y="266700"/>
              <a:ext cx="228600" cy="228600"/>
              <a:chOff x="0" y="0"/>
              <a:chExt cx="228600" cy="228600"/>
            </a:xfrm>
          </p:grpSpPr>
          <p:sp>
            <p:nvSpPr>
              <p:cNvPr id="222" name="Google Shape;222;p20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D97706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20"/>
              <p:cNvSpPr/>
              <p:nvPr/>
            </p:nvSpPr>
            <p:spPr>
              <a:xfrm>
                <a:off x="114300" y="66675"/>
                <a:ext cx="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2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/>
              </a:solidFill>
              <a:ln cap="rnd" cmpd="sng" w="19050">
                <a:solidFill>
                  <a:srgbClr val="D9770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4" name="Google Shape;224;p20"/>
            <p:cNvSpPr txBox="1"/>
            <p:nvPr/>
          </p:nvSpPr>
          <p:spPr>
            <a:xfrm>
              <a:off x="533400" y="142875"/>
              <a:ext cx="3619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strike="noStrike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RISK TYPE</a:t>
              </a:r>
              <a:endParaRPr b="0" i="0" sz="800" u="none" strike="noStrike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1" i="0" lang="en" sz="110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Data Completeness</a:t>
              </a:r>
              <a:endParaRPr b="0" i="0" sz="800" u="none" strike="noStrike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4333875" y="142875"/>
              <a:ext cx="9600" cy="4764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6" name="Google Shape;226;p20"/>
            <p:cNvGrpSpPr/>
            <p:nvPr/>
          </p:nvGrpSpPr>
          <p:grpSpPr>
            <a:xfrm>
              <a:off x="4524375" y="266700"/>
              <a:ext cx="228600" cy="228600"/>
              <a:chOff x="0" y="0"/>
              <a:chExt cx="228600" cy="228600"/>
            </a:xfrm>
          </p:grpSpPr>
          <p:sp>
            <p:nvSpPr>
              <p:cNvPr id="227" name="Google Shape;227;p20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059669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0"/>
              <p:cNvSpPr/>
              <p:nvPr/>
            </p:nvSpPr>
            <p:spPr>
              <a:xfrm>
                <a:off x="66675" y="80975"/>
                <a:ext cx="954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71"/>
                    </a:moveTo>
                    <a:lnTo>
                      <a:pt x="36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/>
              </a:solidFill>
              <a:ln cap="rnd" cmpd="sng" w="19050">
                <a:solidFill>
                  <a:srgbClr val="0596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9" name="Google Shape;229;p20"/>
            <p:cNvSpPr txBox="1"/>
            <p:nvPr/>
          </p:nvSpPr>
          <p:spPr>
            <a:xfrm>
              <a:off x="4905375" y="114300"/>
              <a:ext cx="32862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strike="noStrike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PHASE 1 MITIGATION</a:t>
              </a:r>
              <a:endParaRPr b="0" i="0" sz="800" u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0" i="0" lang="en" sz="1100" u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Legacy data quality explicitly flagged as an operational assumption.</a:t>
              </a:r>
              <a:endParaRPr b="0" i="0" sz="800" u="none" strike="noStrike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21"/>
          <p:cNvGrpSpPr/>
          <p:nvPr/>
        </p:nvGrpSpPr>
        <p:grpSpPr>
          <a:xfrm>
            <a:off x="8610600" y="381000"/>
            <a:ext cx="228600" cy="228600"/>
            <a:chOff x="0" y="0"/>
            <a:chExt cx="228600" cy="228600"/>
          </a:xfrm>
        </p:grpSpPr>
        <p:sp>
          <p:nvSpPr>
            <p:cNvPr id="235" name="Google Shape;235;p21"/>
            <p:cNvSpPr/>
            <p:nvPr/>
          </p:nvSpPr>
          <p:spPr>
            <a:xfrm>
              <a:off x="0" y="0"/>
              <a:ext cx="152400" cy="152400"/>
            </a:xfrm>
            <a:prstGeom prst="rect">
              <a:avLst/>
            </a:prstGeom>
            <a:solidFill>
              <a:srgbClr val="2563EB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76200" y="76200"/>
              <a:ext cx="152400" cy="1524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" name="Google Shape;237;p21"/>
          <p:cNvSpPr/>
          <p:nvPr/>
        </p:nvSpPr>
        <p:spPr>
          <a:xfrm>
            <a:off x="4381500" y="514350"/>
            <a:ext cx="381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762000" y="742950"/>
            <a:ext cx="7620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Ask: Approve Phase 1 Funding for OPP-01 and OPP-03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Mobilize OPP-01 first, since everything else depends on it.</a:t>
            </a:r>
            <a:endParaRPr b="0" sz="13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239" name="Google Shape;239;p21"/>
          <p:cNvGrpSpPr/>
          <p:nvPr/>
        </p:nvGrpSpPr>
        <p:grpSpPr>
          <a:xfrm>
            <a:off x="762000" y="2057400"/>
            <a:ext cx="2286000" cy="2324100"/>
            <a:chOff x="0" y="0"/>
            <a:chExt cx="2286000" cy="2324100"/>
          </a:xfrm>
        </p:grpSpPr>
        <p:sp>
          <p:nvSpPr>
            <p:cNvPr id="240" name="Google Shape;240;p21"/>
            <p:cNvSpPr/>
            <p:nvPr/>
          </p:nvSpPr>
          <p:spPr>
            <a:xfrm>
              <a:off x="0" y="0"/>
              <a:ext cx="2286000" cy="23241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0" y="0"/>
              <a:ext cx="2286000" cy="38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190500" y="228600"/>
              <a:ext cx="19050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APPROVE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Phase 1 Funding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OPP-01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OPP-03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Minimum self-service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3429000" y="2057400"/>
            <a:ext cx="2286000" cy="2324100"/>
            <a:chOff x="0" y="0"/>
            <a:chExt cx="2286000" cy="2324100"/>
          </a:xfrm>
        </p:grpSpPr>
        <p:sp>
          <p:nvSpPr>
            <p:cNvPr id="244" name="Google Shape;244;p21"/>
            <p:cNvSpPr/>
            <p:nvPr/>
          </p:nvSpPr>
          <p:spPr>
            <a:xfrm>
              <a:off x="0" y="0"/>
              <a:ext cx="2286000" cy="23241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0" y="0"/>
              <a:ext cx="2286000" cy="381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1"/>
            <p:cNvSpPr txBox="1"/>
            <p:nvPr/>
          </p:nvSpPr>
          <p:spPr>
            <a:xfrm>
              <a:off x="190500" y="228600"/>
              <a:ext cx="19050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596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ENABLE</a:t>
              </a:r>
              <a:endParaRPr b="0" sz="900">
                <a:solidFill>
                  <a:srgbClr val="0596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Compliance Review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Sponsor rapid compliance review for SMS/email identity verification.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7" name="Google Shape;247;p21"/>
          <p:cNvGrpSpPr/>
          <p:nvPr/>
        </p:nvGrpSpPr>
        <p:grpSpPr>
          <a:xfrm>
            <a:off x="6096000" y="2057400"/>
            <a:ext cx="2286000" cy="2324100"/>
            <a:chOff x="0" y="0"/>
            <a:chExt cx="2286000" cy="2324100"/>
          </a:xfrm>
        </p:grpSpPr>
        <p:sp>
          <p:nvSpPr>
            <p:cNvPr id="248" name="Google Shape;248;p21"/>
            <p:cNvSpPr/>
            <p:nvPr/>
          </p:nvSpPr>
          <p:spPr>
            <a:xfrm>
              <a:off x="0" y="0"/>
              <a:ext cx="2286000" cy="23241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0" y="0"/>
              <a:ext cx="2286000" cy="381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1"/>
            <p:cNvSpPr txBox="1"/>
            <p:nvPr/>
          </p:nvSpPr>
          <p:spPr>
            <a:xfrm>
              <a:off x="190500" y="228600"/>
              <a:ext cx="19050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NEXT STEPS</a:t>
              </a:r>
              <a:endParaRPr b="0" sz="900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Immediate Kickoff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Launch backlog refinement and align data governance rules.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22"/>
          <p:cNvGrpSpPr/>
          <p:nvPr/>
        </p:nvGrpSpPr>
        <p:grpSpPr>
          <a:xfrm>
            <a:off x="381000" y="342900"/>
            <a:ext cx="8458200" cy="914550"/>
            <a:chOff x="381000" y="342900"/>
            <a:chExt cx="8458200" cy="914550"/>
          </a:xfrm>
        </p:grpSpPr>
        <p:grpSp>
          <p:nvGrpSpPr>
            <p:cNvPr id="256" name="Google Shape;256;p22"/>
            <p:cNvGrpSpPr/>
            <p:nvPr/>
          </p:nvGrpSpPr>
          <p:grpSpPr>
            <a:xfrm>
              <a:off x="8610600" y="381000"/>
              <a:ext cx="228600" cy="228600"/>
              <a:chOff x="0" y="0"/>
              <a:chExt cx="228600" cy="228600"/>
            </a:xfrm>
          </p:grpSpPr>
          <p:sp>
            <p:nvSpPr>
              <p:cNvPr id="257" name="Google Shape;257;p22"/>
              <p:cNvSpPr/>
              <p:nvPr/>
            </p:nvSpPr>
            <p:spPr>
              <a:xfrm>
                <a:off x="0" y="0"/>
                <a:ext cx="152400" cy="152400"/>
              </a:xfrm>
              <a:prstGeom prst="rect">
                <a:avLst/>
              </a:prstGeom>
              <a:solidFill>
                <a:srgbClr val="2563EB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2"/>
              <p:cNvSpPr/>
              <p:nvPr/>
            </p:nvSpPr>
            <p:spPr>
              <a:xfrm>
                <a:off x="76200" y="76200"/>
                <a:ext cx="152400" cy="152400"/>
              </a:xfrm>
              <a:prstGeom prst="rect">
                <a:avLst/>
              </a:prstGeom>
              <a:solidFill>
                <a:srgbClr val="0F172A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9" name="Google Shape;259;p22"/>
            <p:cNvSpPr txBox="1"/>
            <p:nvPr/>
          </p:nvSpPr>
          <p:spPr>
            <a:xfrm>
              <a:off x="381000" y="3429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Appendix: Core analysis details for validation.</a:t>
              </a:r>
              <a:endParaRPr b="1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0" name="Google Shape;260;p22"/>
            <p:cNvSpPr/>
            <p:nvPr/>
          </p:nvSpPr>
          <p:spPr>
            <a:xfrm>
              <a:off x="381000" y="1238250"/>
              <a:ext cx="83820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" name="Google Shape;261;p22"/>
          <p:cNvGrpSpPr/>
          <p:nvPr/>
        </p:nvGrpSpPr>
        <p:grpSpPr>
          <a:xfrm>
            <a:off x="381000" y="1381125"/>
            <a:ext cx="3905400" cy="3238500"/>
            <a:chOff x="381000" y="1381125"/>
            <a:chExt cx="3905400" cy="3238500"/>
          </a:xfrm>
        </p:grpSpPr>
        <p:sp>
          <p:nvSpPr>
            <p:cNvPr id="262" name="Google Shape;262;p22"/>
            <p:cNvSpPr/>
            <p:nvPr/>
          </p:nvSpPr>
          <p:spPr>
            <a:xfrm>
              <a:off x="381000" y="1381125"/>
              <a:ext cx="3905400" cy="3238500"/>
            </a:xfrm>
            <a:prstGeom prst="roundRect">
              <a:avLst>
                <a:gd fmla="val 176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2"/>
            <p:cNvSpPr txBox="1"/>
            <p:nvPr/>
          </p:nvSpPr>
          <p:spPr>
            <a:xfrm>
              <a:off x="571500" y="1571625"/>
              <a:ext cx="352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Portfolio Segmentation</a:t>
              </a:r>
              <a:endParaRPr b="0" sz="833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8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3,426-Account Breakdown</a:t>
              </a:r>
              <a:endParaRPr b="1" sz="148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64" name="Google Shape;264;p22"/>
            <p:cNvGrpSpPr/>
            <p:nvPr/>
          </p:nvGrpSpPr>
          <p:grpSpPr>
            <a:xfrm>
              <a:off x="571500" y="2114550"/>
              <a:ext cx="3429150" cy="238200"/>
              <a:chOff x="571500" y="0"/>
              <a:chExt cx="3429150" cy="238200"/>
            </a:xfrm>
          </p:grpSpPr>
          <p:sp>
            <p:nvSpPr>
              <p:cNvPr id="265" name="Google Shape;265;p22"/>
              <p:cNvSpPr txBox="1"/>
              <p:nvPr/>
            </p:nvSpPr>
            <p:spPr>
              <a:xfrm>
                <a:off x="571500" y="0"/>
                <a:ext cx="1714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F172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Straightforward</a:t>
                </a:r>
                <a:endParaRPr b="0" sz="12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266" name="Google Shape;266;p22"/>
              <p:cNvSpPr txBox="1"/>
              <p:nvPr/>
            </p:nvSpPr>
            <p:spPr>
              <a:xfrm>
                <a:off x="2381250" y="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38%</a:t>
                </a:r>
                <a:endParaRPr b="1" sz="12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7" name="Google Shape;267;p22"/>
              <p:cNvSpPr/>
              <p:nvPr/>
            </p:nvSpPr>
            <p:spPr>
              <a:xfrm>
                <a:off x="2952750" y="85725"/>
                <a:ext cx="10479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2"/>
              <p:cNvSpPr/>
              <p:nvPr/>
            </p:nvSpPr>
            <p:spPr>
              <a:xfrm>
                <a:off x="2952750" y="85725"/>
                <a:ext cx="3981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9" name="Google Shape;269;p22"/>
            <p:cNvGrpSpPr/>
            <p:nvPr/>
          </p:nvGrpSpPr>
          <p:grpSpPr>
            <a:xfrm>
              <a:off x="571500" y="2590800"/>
              <a:ext cx="3429150" cy="238200"/>
              <a:chOff x="571500" y="0"/>
              <a:chExt cx="3429150" cy="238200"/>
            </a:xfrm>
          </p:grpSpPr>
          <p:sp>
            <p:nvSpPr>
              <p:cNvPr id="270" name="Google Shape;270;p22"/>
              <p:cNvSpPr txBox="1"/>
              <p:nvPr/>
            </p:nvSpPr>
            <p:spPr>
              <a:xfrm>
                <a:off x="571500" y="0"/>
                <a:ext cx="1714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F172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Complex/High-Risk</a:t>
                </a:r>
                <a:endParaRPr b="0" sz="12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271" name="Google Shape;271;p22"/>
              <p:cNvSpPr txBox="1"/>
              <p:nvPr/>
            </p:nvSpPr>
            <p:spPr>
              <a:xfrm>
                <a:off x="2381250" y="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97706"/>
                    </a:solidFill>
                    <a:latin typeface="Inter"/>
                    <a:ea typeface="Inter"/>
                    <a:cs typeface="Inter"/>
                    <a:sym typeface="Inter"/>
                  </a:rPr>
                  <a:t>22%</a:t>
                </a:r>
                <a:endParaRPr b="1" sz="1200">
                  <a:solidFill>
                    <a:srgbClr val="D9770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2952750" y="85725"/>
                <a:ext cx="10479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2952750" y="85725"/>
                <a:ext cx="2304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571500" y="3067050"/>
              <a:ext cx="3429150" cy="238200"/>
              <a:chOff x="571500" y="0"/>
              <a:chExt cx="3429150" cy="238200"/>
            </a:xfrm>
          </p:grpSpPr>
          <p:sp>
            <p:nvSpPr>
              <p:cNvPr id="275" name="Google Shape;275;p22"/>
              <p:cNvSpPr txBox="1"/>
              <p:nvPr/>
            </p:nvSpPr>
            <p:spPr>
              <a:xfrm>
                <a:off x="571500" y="0"/>
                <a:ext cx="1714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F172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Unresponsive</a:t>
                </a:r>
                <a:endParaRPr b="0" sz="12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276" name="Google Shape;276;p22"/>
              <p:cNvSpPr txBox="1"/>
              <p:nvPr/>
            </p:nvSpPr>
            <p:spPr>
              <a:xfrm>
                <a:off x="2381250" y="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20%</a:t>
                </a:r>
                <a:endParaRPr b="1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2952750" y="85725"/>
                <a:ext cx="10479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2952750" y="85725"/>
                <a:ext cx="2097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571500" y="3543300"/>
              <a:ext cx="3429150" cy="238200"/>
              <a:chOff x="571500" y="0"/>
              <a:chExt cx="3429150" cy="238200"/>
            </a:xfrm>
          </p:grpSpPr>
          <p:sp>
            <p:nvSpPr>
              <p:cNvPr id="280" name="Google Shape;280;p22"/>
              <p:cNvSpPr txBox="1"/>
              <p:nvPr/>
            </p:nvSpPr>
            <p:spPr>
              <a:xfrm>
                <a:off x="571500" y="0"/>
                <a:ext cx="1714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F172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Engaged</a:t>
                </a:r>
                <a:endParaRPr b="0" sz="12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281" name="Google Shape;281;p22"/>
              <p:cNvSpPr txBox="1"/>
              <p:nvPr/>
            </p:nvSpPr>
            <p:spPr>
              <a:xfrm>
                <a:off x="2381250" y="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59669"/>
                    </a:solidFill>
                    <a:latin typeface="Inter"/>
                    <a:ea typeface="Inter"/>
                    <a:cs typeface="Inter"/>
                    <a:sym typeface="Inter"/>
                  </a:rPr>
                  <a:t>15%</a:t>
                </a:r>
                <a:endParaRPr b="1" sz="12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2952750" y="85725"/>
                <a:ext cx="10479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2952750" y="85725"/>
                <a:ext cx="1572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0596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4" name="Google Shape;284;p22"/>
            <p:cNvGrpSpPr/>
            <p:nvPr/>
          </p:nvGrpSpPr>
          <p:grpSpPr>
            <a:xfrm>
              <a:off x="571500" y="4019550"/>
              <a:ext cx="3429150" cy="238200"/>
              <a:chOff x="571500" y="0"/>
              <a:chExt cx="3429150" cy="238200"/>
            </a:xfrm>
          </p:grpSpPr>
          <p:sp>
            <p:nvSpPr>
              <p:cNvPr id="285" name="Google Shape;285;p22"/>
              <p:cNvSpPr txBox="1"/>
              <p:nvPr/>
            </p:nvSpPr>
            <p:spPr>
              <a:xfrm>
                <a:off x="571500" y="0"/>
                <a:ext cx="1714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F172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Incomplete Data</a:t>
                </a:r>
                <a:endParaRPr b="0" sz="12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286" name="Google Shape;286;p22"/>
              <p:cNvSpPr txBox="1"/>
              <p:nvPr/>
            </p:nvSpPr>
            <p:spPr>
              <a:xfrm>
                <a:off x="2381250" y="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5%</a:t>
                </a:r>
                <a:endParaRPr b="1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7" name="Google Shape;287;p22"/>
              <p:cNvSpPr/>
              <p:nvPr/>
            </p:nvSpPr>
            <p:spPr>
              <a:xfrm>
                <a:off x="2952750" y="85725"/>
                <a:ext cx="10479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22"/>
              <p:cNvSpPr/>
              <p:nvPr/>
            </p:nvSpPr>
            <p:spPr>
              <a:xfrm>
                <a:off x="2952750" y="85725"/>
                <a:ext cx="525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4755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9" name="Google Shape;289;p22"/>
          <p:cNvGrpSpPr/>
          <p:nvPr/>
        </p:nvGrpSpPr>
        <p:grpSpPr>
          <a:xfrm>
            <a:off x="4667250" y="1381125"/>
            <a:ext cx="4095900" cy="3238500"/>
            <a:chOff x="4667250" y="1381125"/>
            <a:chExt cx="4095900" cy="3238500"/>
          </a:xfrm>
        </p:grpSpPr>
        <p:sp>
          <p:nvSpPr>
            <p:cNvPr id="290" name="Google Shape;290;p22"/>
            <p:cNvSpPr/>
            <p:nvPr/>
          </p:nvSpPr>
          <p:spPr>
            <a:xfrm>
              <a:off x="4667250" y="1381125"/>
              <a:ext cx="4095900" cy="3238500"/>
            </a:xfrm>
            <a:prstGeom prst="roundRect">
              <a:avLst>
                <a:gd fmla="val 176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4667250" y="1381125"/>
              <a:ext cx="38100" cy="32385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 txBox="1"/>
            <p:nvPr/>
          </p:nvSpPr>
          <p:spPr>
            <a:xfrm>
              <a:off x="4905375" y="1571625"/>
              <a:ext cx="3619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References &amp; Validation</a:t>
              </a:r>
              <a:endParaRPr b="0" sz="833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8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Supporting Materials</a:t>
              </a:r>
              <a:endParaRPr b="1" sz="148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93" name="Google Shape;293;p22"/>
            <p:cNvGrpSpPr/>
            <p:nvPr/>
          </p:nvGrpSpPr>
          <p:grpSpPr>
            <a:xfrm>
              <a:off x="4905375" y="2114550"/>
              <a:ext cx="3571875" cy="228600"/>
              <a:chOff x="4905375" y="0"/>
              <a:chExt cx="3571875" cy="228600"/>
            </a:xfrm>
          </p:grpSpPr>
          <p:grpSp>
            <p:nvGrpSpPr>
              <p:cNvPr id="294" name="Google Shape;294;p22"/>
              <p:cNvGrpSpPr/>
              <p:nvPr/>
            </p:nvGrpSpPr>
            <p:grpSpPr>
              <a:xfrm>
                <a:off x="4905375" y="0"/>
                <a:ext cx="228600" cy="228600"/>
                <a:chOff x="0" y="0"/>
                <a:chExt cx="228600" cy="228600"/>
              </a:xfrm>
            </p:grpSpPr>
            <p:sp>
              <p:nvSpPr>
                <p:cNvPr id="295" name="Google Shape;295;p22"/>
                <p:cNvSpPr/>
                <p:nvPr/>
              </p:nvSpPr>
              <p:spPr>
                <a:xfrm>
                  <a:off x="0" y="0"/>
                  <a:ext cx="228600" cy="228600"/>
                </a:xfrm>
                <a:prstGeom prst="ellipse">
                  <a:avLst/>
                </a:prstGeom>
                <a:solidFill>
                  <a:srgbClr val="059669">
                    <a:alpha val="1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" name="Google Shape;296;p22"/>
                <p:cNvSpPr/>
                <p:nvPr/>
              </p:nvSpPr>
              <p:spPr>
                <a:xfrm>
                  <a:off x="66675" y="80963"/>
                  <a:ext cx="954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71"/>
                      </a:moveTo>
                      <a:lnTo>
                        <a:pt x="36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05966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97" name="Google Shape;297;p22"/>
              <p:cNvSpPr txBox="1"/>
              <p:nvPr/>
            </p:nvSpPr>
            <p:spPr>
              <a:xfrm>
                <a:off x="5238750" y="0"/>
                <a:ext cx="3238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F172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Detailed ROI Sheet</a:t>
                </a:r>
                <a:endParaRPr b="0" sz="12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298" name="Google Shape;298;p22"/>
            <p:cNvGrpSpPr/>
            <p:nvPr/>
          </p:nvGrpSpPr>
          <p:grpSpPr>
            <a:xfrm>
              <a:off x="4905375" y="2638425"/>
              <a:ext cx="3571875" cy="228600"/>
              <a:chOff x="4905375" y="0"/>
              <a:chExt cx="3571875" cy="228600"/>
            </a:xfrm>
          </p:grpSpPr>
          <p:grpSp>
            <p:nvGrpSpPr>
              <p:cNvPr id="299" name="Google Shape;299;p22"/>
              <p:cNvGrpSpPr/>
              <p:nvPr/>
            </p:nvGrpSpPr>
            <p:grpSpPr>
              <a:xfrm>
                <a:off x="4905375" y="0"/>
                <a:ext cx="228600" cy="228600"/>
                <a:chOff x="0" y="0"/>
                <a:chExt cx="228600" cy="228600"/>
              </a:xfrm>
            </p:grpSpPr>
            <p:sp>
              <p:nvSpPr>
                <p:cNvPr id="300" name="Google Shape;300;p22"/>
                <p:cNvSpPr/>
                <p:nvPr/>
              </p:nvSpPr>
              <p:spPr>
                <a:xfrm>
                  <a:off x="0" y="0"/>
                  <a:ext cx="228600" cy="228600"/>
                </a:xfrm>
                <a:prstGeom prst="ellipse">
                  <a:avLst/>
                </a:prstGeom>
                <a:solidFill>
                  <a:srgbClr val="059669">
                    <a:alpha val="1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22"/>
                <p:cNvSpPr/>
                <p:nvPr/>
              </p:nvSpPr>
              <p:spPr>
                <a:xfrm>
                  <a:off x="66675" y="80963"/>
                  <a:ext cx="954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71"/>
                      </a:moveTo>
                      <a:lnTo>
                        <a:pt x="36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05966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02" name="Google Shape;302;p22"/>
              <p:cNvSpPr txBox="1"/>
              <p:nvPr/>
            </p:nvSpPr>
            <p:spPr>
              <a:xfrm>
                <a:off x="5238750" y="0"/>
                <a:ext cx="3238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F172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Comprehensive Backlog</a:t>
                </a:r>
                <a:endParaRPr b="0" sz="12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303" name="Google Shape;303;p22"/>
            <p:cNvGrpSpPr/>
            <p:nvPr/>
          </p:nvGrpSpPr>
          <p:grpSpPr>
            <a:xfrm>
              <a:off x="4905375" y="3162300"/>
              <a:ext cx="3571875" cy="228600"/>
              <a:chOff x="4905375" y="0"/>
              <a:chExt cx="3571875" cy="228600"/>
            </a:xfrm>
          </p:grpSpPr>
          <p:grpSp>
            <p:nvGrpSpPr>
              <p:cNvPr id="304" name="Google Shape;304;p22"/>
              <p:cNvGrpSpPr/>
              <p:nvPr/>
            </p:nvGrpSpPr>
            <p:grpSpPr>
              <a:xfrm>
                <a:off x="4905375" y="0"/>
                <a:ext cx="228600" cy="228600"/>
                <a:chOff x="0" y="0"/>
                <a:chExt cx="228600" cy="228600"/>
              </a:xfrm>
            </p:grpSpPr>
            <p:sp>
              <p:nvSpPr>
                <p:cNvPr id="305" name="Google Shape;305;p22"/>
                <p:cNvSpPr/>
                <p:nvPr/>
              </p:nvSpPr>
              <p:spPr>
                <a:xfrm>
                  <a:off x="0" y="0"/>
                  <a:ext cx="228600" cy="228600"/>
                </a:xfrm>
                <a:prstGeom prst="ellipse">
                  <a:avLst/>
                </a:prstGeom>
                <a:solidFill>
                  <a:srgbClr val="059669">
                    <a:alpha val="1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6" name="Google Shape;306;p22"/>
                <p:cNvSpPr/>
                <p:nvPr/>
              </p:nvSpPr>
              <p:spPr>
                <a:xfrm>
                  <a:off x="66675" y="80963"/>
                  <a:ext cx="954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71"/>
                      </a:moveTo>
                      <a:lnTo>
                        <a:pt x="36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05966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07" name="Google Shape;307;p22"/>
              <p:cNvSpPr txBox="1"/>
              <p:nvPr/>
            </p:nvSpPr>
            <p:spPr>
              <a:xfrm>
                <a:off x="5238750" y="0"/>
                <a:ext cx="3238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F172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Prototype Behavior Notes</a:t>
                </a:r>
                <a:endParaRPr b="0" sz="120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308" name="Google Shape;308;p22"/>
            <p:cNvGrpSpPr/>
            <p:nvPr/>
          </p:nvGrpSpPr>
          <p:grpSpPr>
            <a:xfrm>
              <a:off x="4905375" y="3714750"/>
              <a:ext cx="3619500" cy="714300"/>
              <a:chOff x="0" y="0"/>
              <a:chExt cx="3619500" cy="714300"/>
            </a:xfrm>
          </p:grpSpPr>
          <p:sp>
            <p:nvSpPr>
              <p:cNvPr id="309" name="Google Shape;309;p22"/>
              <p:cNvSpPr/>
              <p:nvPr/>
            </p:nvSpPr>
            <p:spPr>
              <a:xfrm>
                <a:off x="0" y="0"/>
                <a:ext cx="3619500" cy="714300"/>
              </a:xfrm>
              <a:prstGeom prst="roundRect">
                <a:avLst>
                  <a:gd fmla="val 80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22"/>
              <p:cNvSpPr txBox="1"/>
              <p:nvPr/>
            </p:nvSpPr>
            <p:spPr>
              <a:xfrm>
                <a:off x="152400" y="114300"/>
                <a:ext cx="3314700" cy="48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All validation details, backing calculations, and structured models are </a:t>
                </a:r>
                <a:r>
                  <a:rPr b="1" lang="en" sz="10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available upon request</a:t>
                </a:r>
                <a:r>
                  <a:rPr b="0" lang="en" sz="10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