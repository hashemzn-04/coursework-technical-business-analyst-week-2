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embeddedFontLst>
    <p:embeddedFont>
      <p:font typeface="Inter SemiBold"/>
      <p:regular r:id="rId15"/>
      <p:bold r:id="rId16"/>
      <p:italic r:id="rId17"/>
      <p:boldItalic r:id="rId18"/>
    </p:embeddedFont>
    <p:embeddedFont>
      <p:font typeface="Inter"/>
      <p:bold r:id="rId19"/>
      <p:boldItalic r:id="rId20"/>
    </p:embeddedFont>
    <p:embeddedFont>
      <p:font typeface="Inter Medium"/>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boldItalic.fntdata"/><Relationship Id="rId11" Type="http://schemas.openxmlformats.org/officeDocument/2006/relationships/slide" Target="slides/slide6.xml"/><Relationship Id="rId22" Type="http://schemas.openxmlformats.org/officeDocument/2006/relationships/font" Target="fonts/InterMedium-bold.fntdata"/><Relationship Id="rId10" Type="http://schemas.openxmlformats.org/officeDocument/2006/relationships/slide" Target="slides/slide5.xml"/><Relationship Id="rId21" Type="http://schemas.openxmlformats.org/officeDocument/2006/relationships/font" Target="fonts/InterMedium-regular.fntdata"/><Relationship Id="rId13" Type="http://schemas.openxmlformats.org/officeDocument/2006/relationships/slide" Target="slides/slide8.xml"/><Relationship Id="rId24" Type="http://schemas.openxmlformats.org/officeDocument/2006/relationships/font" Target="fonts/InterMedium-boldItalic.fntdata"/><Relationship Id="rId12" Type="http://schemas.openxmlformats.org/officeDocument/2006/relationships/slide" Target="slides/slide7.xml"/><Relationship Id="rId23" Type="http://schemas.openxmlformats.org/officeDocument/2006/relationships/font" Target="fonts/InterMedium-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SemiBold-regular.fntdata"/><Relationship Id="rId14" Type="http://schemas.openxmlformats.org/officeDocument/2006/relationships/slide" Target="slides/slide9.xml"/><Relationship Id="rId17" Type="http://schemas.openxmlformats.org/officeDocument/2006/relationships/font" Target="fonts/InterSemiBold-italic.fntdata"/><Relationship Id="rId16" Type="http://schemas.openxmlformats.org/officeDocument/2006/relationships/font" Target="fonts/InterSemiBold-bold.fntdata"/><Relationship Id="rId5" Type="http://schemas.openxmlformats.org/officeDocument/2006/relationships/notesMaster" Target="notesMasters/notesMaster1.xml"/><Relationship Id="rId19" Type="http://schemas.openxmlformats.org/officeDocument/2006/relationships/font" Target="fonts/Inter-bold.fntdata"/><Relationship Id="rId6" Type="http://schemas.openxmlformats.org/officeDocument/2006/relationships/slide" Target="slides/slide1.xml"/><Relationship Id="rId18" Type="http://schemas.openxmlformats.org/officeDocument/2006/relationships/font" Target="fonts/InterSemiBold-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g409b3c54e26_2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3" name="Google Shape;53;g409b3c54e26_2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I’m presenting to ask you to approve funding today, and I’ll show exactly why the evidence supports this.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409b3c54e26_2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409b3c54e26_2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This is what we are asking for. Everything after this slide is the evidence to support these asks. To summarise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409b3c54e26_2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409b3c54e26_2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These are the current issues we have scale, where more than 50 agents are focused on legacy tools, with more than 10+ minutes on each case hunting for information. Lastly, 15% revenue leaks resulted from this operational complexity.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409b3c54e26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409b3c54e26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These aren’t hypothetical, they are direct quotes extracted from stakeholder interviews, and each of them map to a specific opportunity.</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409b3c54e26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409b3c54e26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Daniel, not all of the opportunities have a positive ROI, but I am telling you why they are being funded regardless. I have evidence of what would need to hold for the opportunities to achieve their predicted uplift, which can bring major profits to the company by the end of the full implementation of this portal.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409b3c54e26_19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409b3c54e26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exclusions are what will make phase 1 effective and credible. These are things that need assessment of the in-scope deliverables to see if they will be effective when implemented. They are all predicted to bring in returns when considering uplift even in conservative scenarios.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409b3c54e26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409b3c54e26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This phase will not come free of risks. These are the risks we are expecting, and each of these come with mitigations.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409b3c54e26_1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409b3c54e26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And this is the ask all summarised, do I have your approval to proceed on this basis from today?</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409b3c54e26_1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409b3c54e26_1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409b3c54e26_13_0)">
  <p:cSld name="Generated (g409b3c54e26_13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2" name="Google Shape;12;p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3" name="Google Shape;13;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9" name="Google Shape;19;p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3" name="Google Shape;23;p6"/>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6"/>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8"/>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1" name="Google Shape;31;p8"/>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2" name="Google Shape;32;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3" name="Shape 33"/>
        <p:cNvGrpSpPr/>
        <p:nvPr/>
      </p:nvGrpSpPr>
      <p:grpSpPr>
        <a:xfrm>
          <a:off x="0" y="0"/>
          <a:ext cx="0" cy="0"/>
          <a:chOff x="0" y="0"/>
          <a:chExt cx="0" cy="0"/>
        </a:xfrm>
      </p:grpSpPr>
      <p:sp>
        <p:nvSpPr>
          <p:cNvPr id="34" name="Google Shape;34;p9"/>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0"/>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9" name="Google Shape;39;p10"/>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0" name="Google Shape;40;p10"/>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1" name="Google Shape;41;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2" name="Shape 42"/>
        <p:cNvGrpSpPr/>
        <p:nvPr/>
      </p:nvGrpSpPr>
      <p:grpSpPr>
        <a:xfrm>
          <a:off x="0" y="0"/>
          <a:ext cx="0" cy="0"/>
          <a:chOff x="0" y="0"/>
          <a:chExt cx="0" cy="0"/>
        </a:xfrm>
      </p:grpSpPr>
      <p:sp>
        <p:nvSpPr>
          <p:cNvPr id="43" name="Google Shape;43;p11"/>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5" name="Shape 45"/>
        <p:cNvGrpSpPr/>
        <p:nvPr/>
      </p:nvGrpSpPr>
      <p:grpSpPr>
        <a:xfrm>
          <a:off x="0" y="0"/>
          <a:ext cx="0" cy="0"/>
          <a:chOff x="0" y="0"/>
          <a:chExt cx="0" cy="0"/>
        </a:xfrm>
      </p:grpSpPr>
      <p:sp>
        <p:nvSpPr>
          <p:cNvPr id="46" name="Google Shape;46;p12"/>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7" name="Google Shape;47;p12"/>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8" name="Google Shape;48;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9" name="Shape 49"/>
        <p:cNvGrpSpPr/>
        <p:nvPr/>
      </p:nvGrpSpPr>
      <p:grpSpPr>
        <a:xfrm>
          <a:off x="0" y="0"/>
          <a:ext cx="0" cy="0"/>
          <a:chOff x="0" y="0"/>
          <a:chExt cx="0" cy="0"/>
        </a:xfrm>
      </p:grpSpPr>
      <p:sp>
        <p:nvSpPr>
          <p:cNvPr id="50" name="Google Shape;50;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grpSp>
        <p:nvGrpSpPr>
          <p:cNvPr id="55" name="Google Shape;55;p14"/>
          <p:cNvGrpSpPr/>
          <p:nvPr/>
        </p:nvGrpSpPr>
        <p:grpSpPr>
          <a:xfrm>
            <a:off x="0" y="0"/>
            <a:ext cx="9144000" cy="5143500"/>
            <a:chOff x="0" y="0"/>
            <a:chExt cx="9144000" cy="5143500"/>
          </a:xfrm>
        </p:grpSpPr>
        <p:sp>
          <p:nvSpPr>
            <p:cNvPr id="56" name="Google Shape;56;p14"/>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57" name="Google Shape;57;p14"/>
            <p:cNvGrpSpPr/>
            <p:nvPr/>
          </p:nvGrpSpPr>
          <p:grpSpPr>
            <a:xfrm>
              <a:off x="8572500" y="381000"/>
              <a:ext cx="228600" cy="228600"/>
              <a:chOff x="0" y="0"/>
              <a:chExt cx="228600" cy="228600"/>
            </a:xfrm>
          </p:grpSpPr>
          <p:sp>
            <p:nvSpPr>
              <p:cNvPr id="58" name="Google Shape;58;p14"/>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 name="Google Shape;59;p14"/>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0" name="Google Shape;60;p14"/>
            <p:cNvSpPr/>
            <p:nvPr/>
          </p:nvSpPr>
          <p:spPr>
            <a:xfrm>
              <a:off x="381000" y="1714500"/>
              <a:ext cx="381000" cy="38100"/>
            </a:xfrm>
            <a:prstGeom prst="rect">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 name="Google Shape;61;p14"/>
            <p:cNvSpPr txBox="1"/>
            <p:nvPr/>
          </p:nvSpPr>
          <p:spPr>
            <a:xfrm>
              <a:off x="381000" y="1905000"/>
              <a:ext cx="7620000" cy="1524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3000">
                  <a:solidFill>
                    <a:srgbClr val="0F172A"/>
                  </a:solidFill>
                  <a:latin typeface="Inter"/>
                  <a:ea typeface="Inter"/>
                  <a:cs typeface="Inter"/>
                  <a:sym typeface="Inter"/>
                </a:rPr>
                <a:t>Smart-Recovery Phase 1: Executive Briefing &amp; Funding Recommendation</a:t>
              </a:r>
              <a:endParaRPr b="1" sz="3000">
                <a:solidFill>
                  <a:srgbClr val="0F172A"/>
                </a:solidFill>
                <a:latin typeface="Inter"/>
                <a:ea typeface="Inter"/>
                <a:cs typeface="Inter"/>
                <a:sym typeface="Inter"/>
              </a:endParaRPr>
            </a:p>
          </p:txBody>
        </p:sp>
        <p:sp>
          <p:nvSpPr>
            <p:cNvPr id="62" name="Google Shape;62;p14"/>
            <p:cNvSpPr/>
            <p:nvPr/>
          </p:nvSpPr>
          <p:spPr>
            <a:xfrm>
              <a:off x="381000" y="3619500"/>
              <a:ext cx="7620000" cy="96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 name="Google Shape;63;p14"/>
            <p:cNvSpPr txBox="1"/>
            <p:nvPr/>
          </p:nvSpPr>
          <p:spPr>
            <a:xfrm>
              <a:off x="381000" y="3810000"/>
              <a:ext cx="7620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200">
                  <a:solidFill>
                    <a:srgbClr val="475569"/>
                  </a:solidFill>
                  <a:latin typeface="Inter"/>
                  <a:ea typeface="Inter"/>
                  <a:cs typeface="Inter"/>
                  <a:sym typeface="Inter"/>
                </a:rPr>
                <a:t>Hashem Znati, 2026-08-20 | Prepared for: Operations, Finance &amp; Compliance, Product Leadership</a:t>
              </a:r>
              <a:endParaRPr b="0" sz="1200">
                <a:solidFill>
                  <a:srgbClr val="475569"/>
                </a:solidFill>
                <a:latin typeface="Inter"/>
                <a:ea typeface="Inter"/>
                <a:cs typeface="Inter"/>
                <a:sym typeface="Inte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7" name="Shape 67"/>
        <p:cNvGrpSpPr/>
        <p:nvPr/>
      </p:nvGrpSpPr>
      <p:grpSpPr>
        <a:xfrm>
          <a:off x="0" y="0"/>
          <a:ext cx="0" cy="0"/>
          <a:chOff x="0" y="0"/>
          <a:chExt cx="0" cy="0"/>
        </a:xfrm>
      </p:grpSpPr>
      <p:grpSp>
        <p:nvGrpSpPr>
          <p:cNvPr id="68" name="Google Shape;68;p15"/>
          <p:cNvGrpSpPr/>
          <p:nvPr/>
        </p:nvGrpSpPr>
        <p:grpSpPr>
          <a:xfrm>
            <a:off x="8648700" y="342900"/>
            <a:ext cx="171450" cy="171450"/>
            <a:chOff x="0" y="0"/>
            <a:chExt cx="171450" cy="171450"/>
          </a:xfrm>
        </p:grpSpPr>
        <p:sp>
          <p:nvSpPr>
            <p:cNvPr id="69" name="Google Shape;69;p15"/>
            <p:cNvSpPr/>
            <p:nvPr/>
          </p:nvSpPr>
          <p:spPr>
            <a:xfrm>
              <a:off x="0" y="0"/>
              <a:ext cx="114300" cy="1143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0" name="Google Shape;70;p15"/>
            <p:cNvSpPr/>
            <p:nvPr/>
          </p:nvSpPr>
          <p:spPr>
            <a:xfrm>
              <a:off x="57150" y="57150"/>
              <a:ext cx="114300" cy="1143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1" name="Google Shape;71;p15"/>
          <p:cNvSpPr txBox="1"/>
          <p:nvPr/>
        </p:nvSpPr>
        <p:spPr>
          <a:xfrm>
            <a:off x="381000" y="342900"/>
            <a:ext cx="8001000" cy="3333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 sz="1680" u="none" strike="noStrike">
                <a:solidFill>
                  <a:srgbClr val="0F172A"/>
                </a:solidFill>
                <a:latin typeface="Inter"/>
                <a:ea typeface="Inter"/>
                <a:cs typeface="Inter"/>
                <a:sym typeface="Inter"/>
              </a:rPr>
              <a:t>Approve a focused Phase 1 Smart-Recovery portal now</a:t>
            </a:r>
            <a:r>
              <a:rPr b="1" lang="en" sz="1680">
                <a:solidFill>
                  <a:srgbClr val="0F172A"/>
                </a:solidFill>
                <a:latin typeface="Inter"/>
                <a:ea typeface="Inter"/>
                <a:cs typeface="Inter"/>
                <a:sym typeface="Inter"/>
              </a:rPr>
              <a:t> </a:t>
            </a:r>
            <a:endParaRPr b="1" i="0" sz="1680" u="none" strike="noStrike">
              <a:solidFill>
                <a:srgbClr val="0F172A"/>
              </a:solidFill>
              <a:latin typeface="Inter"/>
              <a:ea typeface="Inter"/>
              <a:cs typeface="Inter"/>
              <a:sym typeface="Inter"/>
            </a:endParaRPr>
          </a:p>
        </p:txBody>
      </p:sp>
      <p:sp>
        <p:nvSpPr>
          <p:cNvPr id="72" name="Google Shape;72;p15"/>
          <p:cNvSpPr/>
          <p:nvPr/>
        </p:nvSpPr>
        <p:spPr>
          <a:xfrm>
            <a:off x="381000" y="1238250"/>
            <a:ext cx="8382000" cy="96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 name="Google Shape;73;p15"/>
          <p:cNvSpPr txBox="1"/>
          <p:nvPr/>
        </p:nvSpPr>
        <p:spPr>
          <a:xfrm>
            <a:off x="381000" y="1390650"/>
            <a:ext cx="8382000" cy="337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2563EB"/>
                </a:solidFill>
                <a:latin typeface="Inter SemiBold"/>
                <a:ea typeface="Inter SemiBold"/>
                <a:cs typeface="Inter SemiBold"/>
                <a:sym typeface="Inter SemiBold"/>
              </a:rPr>
              <a:t>Pillar 01 — Scope</a:t>
            </a:r>
            <a:endParaRPr b="0" sz="900">
              <a:solidFill>
                <a:srgbClr val="2563EB"/>
              </a:solidFill>
              <a:latin typeface="Inter SemiBold"/>
              <a:ea typeface="Inter SemiBold"/>
              <a:cs typeface="Inter SemiBold"/>
              <a:sym typeface="Inter SemiBold"/>
            </a:endParaRPr>
          </a:p>
          <a:p>
            <a:pPr indent="0" lvl="0" marL="0" rtl="0" algn="l">
              <a:spcBef>
                <a:spcPts val="300"/>
              </a:spcBef>
              <a:spcAft>
                <a:spcPts val="0"/>
              </a:spcAft>
              <a:buNone/>
            </a:pPr>
            <a:r>
              <a:rPr b="1" lang="en" sz="1500">
                <a:solidFill>
                  <a:srgbClr val="0F172A"/>
                </a:solidFill>
                <a:latin typeface="Inter"/>
                <a:ea typeface="Inter"/>
                <a:cs typeface="Inter"/>
                <a:sym typeface="Inter"/>
              </a:rPr>
              <a:t>Straightforward Case Automation</a:t>
            </a:r>
            <a:endParaRPr b="1" sz="1500">
              <a:solidFill>
                <a:srgbClr val="0F172A"/>
              </a:solidFill>
              <a:latin typeface="Inter"/>
              <a:ea typeface="Inter"/>
              <a:cs typeface="Inter"/>
              <a:sym typeface="Inter"/>
            </a:endParaRPr>
          </a:p>
          <a:p>
            <a:pPr indent="0" lvl="0" marL="0" rtl="0" algn="l">
              <a:spcBef>
                <a:spcPts val="450"/>
              </a:spcBef>
              <a:spcAft>
                <a:spcPts val="0"/>
              </a:spcAft>
              <a:buNone/>
            </a:pPr>
            <a:r>
              <a:rPr b="0" lang="en" sz="1200">
                <a:solidFill>
                  <a:srgbClr val="475569"/>
                </a:solidFill>
                <a:latin typeface="Inter"/>
                <a:ea typeface="Inter"/>
                <a:cs typeface="Inter"/>
                <a:sym typeface="Inter"/>
              </a:rPr>
              <a:t>Unified profile, automated logging, and self-service portal for 38-53% straightforward cases.</a:t>
            </a:r>
            <a:endParaRPr b="0" sz="1200">
              <a:solidFill>
                <a:srgbClr val="475569"/>
              </a:solidFill>
              <a:latin typeface="Inter"/>
              <a:ea typeface="Inter"/>
              <a:cs typeface="Inter"/>
              <a:sym typeface="Inter"/>
            </a:endParaRPr>
          </a:p>
          <a:p>
            <a:pPr indent="0" lvl="0" marL="0" rtl="0" algn="l">
              <a:spcBef>
                <a:spcPts val="2250"/>
              </a:spcBef>
              <a:spcAft>
                <a:spcPts val="0"/>
              </a:spcAft>
              <a:buNone/>
            </a:pPr>
            <a:r>
              <a:rPr b="0" lang="en" sz="900">
                <a:solidFill>
                  <a:srgbClr val="2563EB"/>
                </a:solidFill>
                <a:latin typeface="Inter SemiBold"/>
                <a:ea typeface="Inter SemiBold"/>
                <a:cs typeface="Inter SemiBold"/>
                <a:sym typeface="Inter SemiBold"/>
              </a:rPr>
              <a:t>Pillar 02 — Urgency</a:t>
            </a:r>
            <a:endParaRPr b="0" sz="900">
              <a:solidFill>
                <a:srgbClr val="2563EB"/>
              </a:solidFill>
              <a:latin typeface="Inter SemiBold"/>
              <a:ea typeface="Inter SemiBold"/>
              <a:cs typeface="Inter SemiBold"/>
              <a:sym typeface="Inter SemiBold"/>
            </a:endParaRPr>
          </a:p>
          <a:p>
            <a:pPr indent="0" lvl="0" marL="0" rtl="0" algn="l">
              <a:spcBef>
                <a:spcPts val="300"/>
              </a:spcBef>
              <a:spcAft>
                <a:spcPts val="0"/>
              </a:spcAft>
              <a:buNone/>
            </a:pPr>
            <a:r>
              <a:rPr b="1" lang="en" sz="1500">
                <a:solidFill>
                  <a:srgbClr val="0F172A"/>
                </a:solidFill>
                <a:latin typeface="Inter"/>
                <a:ea typeface="Inter"/>
                <a:cs typeface="Inter"/>
                <a:sym typeface="Inter"/>
              </a:rPr>
              <a:t>Legacy Scaling Constraints</a:t>
            </a:r>
            <a:endParaRPr b="1" sz="1500">
              <a:solidFill>
                <a:srgbClr val="0F172A"/>
              </a:solidFill>
              <a:latin typeface="Inter"/>
              <a:ea typeface="Inter"/>
              <a:cs typeface="Inter"/>
              <a:sym typeface="Inter"/>
            </a:endParaRPr>
          </a:p>
          <a:p>
            <a:pPr indent="0" lvl="0" marL="0" rtl="0" algn="l">
              <a:spcBef>
                <a:spcPts val="450"/>
              </a:spcBef>
              <a:spcAft>
                <a:spcPts val="0"/>
              </a:spcAft>
              <a:buNone/>
            </a:pPr>
            <a:r>
              <a:rPr b="0" lang="en" sz="1200">
                <a:solidFill>
                  <a:srgbClr val="475569"/>
                </a:solidFill>
                <a:latin typeface="Inter"/>
                <a:ea typeface="Inter"/>
                <a:cs typeface="Inter"/>
                <a:sym typeface="Inter"/>
              </a:rPr>
              <a:t>100,000+ accounts, 50+ agents, and 15% revenue loss on legacy tools.</a:t>
            </a:r>
            <a:endParaRPr b="0" sz="1200">
              <a:solidFill>
                <a:srgbClr val="475569"/>
              </a:solidFill>
              <a:latin typeface="Inter"/>
              <a:ea typeface="Inter"/>
              <a:cs typeface="Inter"/>
              <a:sym typeface="Inter"/>
            </a:endParaRPr>
          </a:p>
          <a:p>
            <a:pPr indent="0" lvl="0" marL="0" rtl="0" algn="l">
              <a:spcBef>
                <a:spcPts val="2250"/>
              </a:spcBef>
              <a:spcAft>
                <a:spcPts val="0"/>
              </a:spcAft>
              <a:buNone/>
            </a:pPr>
            <a:r>
              <a:rPr b="0" lang="en" sz="900">
                <a:solidFill>
                  <a:srgbClr val="2563EB"/>
                </a:solidFill>
                <a:latin typeface="Inter SemiBold"/>
                <a:ea typeface="Inter SemiBold"/>
                <a:cs typeface="Inter SemiBold"/>
                <a:sym typeface="Inter SemiBold"/>
              </a:rPr>
              <a:t>Pillar 03 — Credibility</a:t>
            </a:r>
            <a:endParaRPr b="0" sz="900">
              <a:solidFill>
                <a:srgbClr val="2563EB"/>
              </a:solidFill>
              <a:latin typeface="Inter SemiBold"/>
              <a:ea typeface="Inter SemiBold"/>
              <a:cs typeface="Inter SemiBold"/>
              <a:sym typeface="Inter SemiBold"/>
            </a:endParaRPr>
          </a:p>
          <a:p>
            <a:pPr indent="0" lvl="0" marL="0" rtl="0" algn="l">
              <a:spcBef>
                <a:spcPts val="300"/>
              </a:spcBef>
              <a:spcAft>
                <a:spcPts val="0"/>
              </a:spcAft>
              <a:buNone/>
            </a:pPr>
            <a:r>
              <a:rPr b="1" lang="en" sz="1500">
                <a:solidFill>
                  <a:srgbClr val="0F172A"/>
                </a:solidFill>
                <a:latin typeface="Inter"/>
                <a:ea typeface="Inter"/>
                <a:cs typeface="Inter"/>
                <a:sym typeface="Inter"/>
              </a:rPr>
              <a:t>Positive-ROI Foundation</a:t>
            </a:r>
            <a:endParaRPr b="1" sz="1500">
              <a:solidFill>
                <a:srgbClr val="0F172A"/>
              </a:solidFill>
              <a:latin typeface="Inter"/>
              <a:ea typeface="Inter"/>
              <a:cs typeface="Inter"/>
              <a:sym typeface="Inter"/>
            </a:endParaRPr>
          </a:p>
          <a:p>
            <a:pPr indent="0" lvl="0" marL="0" rtl="0" algn="l">
              <a:spcBef>
                <a:spcPts val="450"/>
              </a:spcBef>
              <a:spcAft>
                <a:spcPts val="0"/>
              </a:spcAft>
              <a:buNone/>
            </a:pPr>
            <a:r>
              <a:rPr b="0" lang="en" sz="1200">
                <a:solidFill>
                  <a:srgbClr val="475569"/>
                </a:solidFill>
                <a:latin typeface="Inter"/>
                <a:ea typeface="Inter"/>
                <a:cs typeface="Inter"/>
                <a:sym typeface="Inter"/>
              </a:rPr>
              <a:t>Only positive-ROI (OPP-01, OPP-03) and core self-service included. High-risk features deferred.</a:t>
            </a:r>
            <a:endParaRPr b="0" sz="1200">
              <a:solidFill>
                <a:srgbClr val="475569"/>
              </a:solidFill>
              <a:latin typeface="Inter"/>
              <a:ea typeface="Inter"/>
              <a:cs typeface="Inter"/>
              <a:sym typeface="Inter"/>
            </a:endParaRPr>
          </a:p>
        </p:txBody>
      </p:sp>
      <p:sp>
        <p:nvSpPr>
          <p:cNvPr id="74" name="Google Shape;74;p15"/>
          <p:cNvSpPr txBox="1"/>
          <p:nvPr/>
        </p:nvSpPr>
        <p:spPr>
          <a:xfrm>
            <a:off x="295200" y="685725"/>
            <a:ext cx="8172600" cy="54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2"/>
                </a:solidFill>
                <a:latin typeface="Inter"/>
                <a:ea typeface="Inter"/>
                <a:cs typeface="Inter"/>
                <a:sym typeface="Inter"/>
              </a:rPr>
              <a:t>It pays back on hard savings alone, before any uplift assumption is needed.</a:t>
            </a:r>
            <a:endParaRPr>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8" name="Shape 78"/>
        <p:cNvGrpSpPr/>
        <p:nvPr/>
      </p:nvGrpSpPr>
      <p:grpSpPr>
        <a:xfrm>
          <a:off x="0" y="0"/>
          <a:ext cx="0" cy="0"/>
          <a:chOff x="0" y="0"/>
          <a:chExt cx="0" cy="0"/>
        </a:xfrm>
      </p:grpSpPr>
      <p:grpSp>
        <p:nvGrpSpPr>
          <p:cNvPr id="79" name="Google Shape;79;p16"/>
          <p:cNvGrpSpPr/>
          <p:nvPr/>
        </p:nvGrpSpPr>
        <p:grpSpPr>
          <a:xfrm>
            <a:off x="8610600" y="381000"/>
            <a:ext cx="228600" cy="228600"/>
            <a:chOff x="0" y="0"/>
            <a:chExt cx="228600" cy="228600"/>
          </a:xfrm>
        </p:grpSpPr>
        <p:sp>
          <p:nvSpPr>
            <p:cNvPr id="80" name="Google Shape;80;p16"/>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 name="Google Shape;81;p16"/>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82" name="Google Shape;82;p16"/>
          <p:cNvSpPr txBox="1"/>
          <p:nvPr/>
        </p:nvSpPr>
        <p:spPr>
          <a:xfrm>
            <a:off x="381000" y="342900"/>
            <a:ext cx="8001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 sz="2220" u="none" strike="noStrike">
                <a:solidFill>
                  <a:srgbClr val="0F172A"/>
                </a:solidFill>
                <a:latin typeface="Inter"/>
                <a:ea typeface="Inter"/>
                <a:cs typeface="Inter"/>
                <a:sym typeface="Inter"/>
              </a:rPr>
              <a:t>Every week of delay compounds a 15% revenue leak</a:t>
            </a:r>
            <a:endParaRPr b="1" i="0" sz="2220" u="none" strike="noStrike">
              <a:solidFill>
                <a:srgbClr val="0F172A"/>
              </a:solidFill>
              <a:latin typeface="Inter"/>
              <a:ea typeface="Inter"/>
              <a:cs typeface="Inter"/>
              <a:sym typeface="Inter"/>
            </a:endParaRPr>
          </a:p>
          <a:p>
            <a:pPr indent="0" lvl="0" marL="0" rtl="0" algn="l">
              <a:spcBef>
                <a:spcPts val="300"/>
              </a:spcBef>
              <a:spcAft>
                <a:spcPts val="0"/>
              </a:spcAft>
              <a:buNone/>
            </a:pPr>
            <a:r>
              <a:rPr b="1" i="0" lang="en" sz="2220" u="none" strike="noStrike">
                <a:solidFill>
                  <a:srgbClr val="0F172A"/>
                </a:solidFill>
                <a:latin typeface="Inter"/>
                <a:ea typeface="Inter"/>
                <a:cs typeface="Inter"/>
                <a:sym typeface="Inter"/>
              </a:rPr>
              <a:t>across a 100,000+ account portfolio.</a:t>
            </a:r>
            <a:endParaRPr b="1" i="0" sz="2220" u="none" strike="noStrike">
              <a:solidFill>
                <a:srgbClr val="0F172A"/>
              </a:solidFill>
              <a:latin typeface="Inter"/>
              <a:ea typeface="Inter"/>
              <a:cs typeface="Inter"/>
              <a:sym typeface="Inter"/>
            </a:endParaRPr>
          </a:p>
        </p:txBody>
      </p:sp>
      <p:sp>
        <p:nvSpPr>
          <p:cNvPr id="83" name="Google Shape;83;p16"/>
          <p:cNvSpPr/>
          <p:nvPr/>
        </p:nvSpPr>
        <p:spPr>
          <a:xfrm>
            <a:off x="381000" y="1238250"/>
            <a:ext cx="8382000" cy="192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84" name="Google Shape;84;p16"/>
          <p:cNvGrpSpPr/>
          <p:nvPr/>
        </p:nvGrpSpPr>
        <p:grpSpPr>
          <a:xfrm>
            <a:off x="381000" y="1619250"/>
            <a:ext cx="2667000" cy="2667000"/>
            <a:chOff x="0" y="0"/>
            <a:chExt cx="2667000" cy="2667000"/>
          </a:xfrm>
        </p:grpSpPr>
        <p:sp>
          <p:nvSpPr>
            <p:cNvPr id="85" name="Google Shape;85;p16"/>
            <p:cNvSpPr/>
            <p:nvPr/>
          </p:nvSpPr>
          <p:spPr>
            <a:xfrm>
              <a:off x="0" y="0"/>
              <a:ext cx="2667000" cy="2667000"/>
            </a:xfrm>
            <a:prstGeom prst="roundRect">
              <a:avLst>
                <a:gd fmla="val 2857"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6" name="Google Shape;86;p16"/>
            <p:cNvSpPr/>
            <p:nvPr/>
          </p:nvSpPr>
          <p:spPr>
            <a:xfrm>
              <a:off x="0" y="0"/>
              <a:ext cx="2667000" cy="381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7" name="Google Shape;87;p16"/>
            <p:cNvSpPr txBox="1"/>
            <p:nvPr/>
          </p:nvSpPr>
          <p:spPr>
            <a:xfrm>
              <a:off x="228600" y="228600"/>
              <a:ext cx="2209800" cy="2209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2563EB"/>
                  </a:solidFill>
                  <a:latin typeface="Inter SemiBold"/>
                  <a:ea typeface="Inter SemiBold"/>
                  <a:cs typeface="Inter SemiBold"/>
                  <a:sym typeface="Inter SemiBold"/>
                </a:rPr>
                <a:t>Scale</a:t>
              </a:r>
              <a:endParaRPr b="0" sz="900">
                <a:solidFill>
                  <a:srgbClr val="2563EB"/>
                </a:solidFill>
                <a:latin typeface="Inter SemiBold"/>
                <a:ea typeface="Inter SemiBold"/>
                <a:cs typeface="Inter SemiBold"/>
                <a:sym typeface="Inter SemiBold"/>
              </a:endParaRPr>
            </a:p>
            <a:p>
              <a:pPr indent="0" lvl="0" marL="0" rtl="0" algn="l">
                <a:spcBef>
                  <a:spcPts val="600"/>
                </a:spcBef>
                <a:spcAft>
                  <a:spcPts val="0"/>
                </a:spcAft>
                <a:buNone/>
              </a:pPr>
              <a:r>
                <a:rPr b="1" lang="en" sz="4200">
                  <a:solidFill>
                    <a:srgbClr val="2563EB"/>
                  </a:solidFill>
                  <a:latin typeface="Inter"/>
                  <a:ea typeface="Inter"/>
                  <a:cs typeface="Inter"/>
                  <a:sym typeface="Inter"/>
                </a:rPr>
                <a:t>50+</a:t>
              </a:r>
              <a:endParaRPr b="1" sz="4200">
                <a:solidFill>
                  <a:srgbClr val="2563EB"/>
                </a:solidFill>
                <a:latin typeface="Inter"/>
                <a:ea typeface="Inter"/>
                <a:cs typeface="Inter"/>
                <a:sym typeface="Inter"/>
              </a:endParaRPr>
            </a:p>
            <a:p>
              <a:pPr indent="0" lvl="0" marL="0" rtl="0" algn="l">
                <a:spcBef>
                  <a:spcPts val="900"/>
                </a:spcBef>
                <a:spcAft>
                  <a:spcPts val="0"/>
                </a:spcAft>
                <a:buNone/>
              </a:pPr>
              <a:r>
                <a:rPr b="1" lang="en" sz="1100">
                  <a:solidFill>
                    <a:srgbClr val="475569"/>
                  </a:solidFill>
                  <a:latin typeface="Inter"/>
                  <a:ea typeface="Inter"/>
                  <a:cs typeface="Inter"/>
                  <a:sym typeface="Inter"/>
                </a:rPr>
                <a:t>Agents</a:t>
              </a:r>
              <a:r>
                <a:rPr b="0" lang="en" sz="1100">
                  <a:solidFill>
                    <a:srgbClr val="475569"/>
                  </a:solidFill>
                  <a:latin typeface="Inter"/>
                  <a:ea typeface="Inter"/>
                  <a:cs typeface="Inter"/>
                  <a:sym typeface="Inter"/>
                </a:rPr>
                <a:t> managing legacy tools.</a:t>
              </a:r>
              <a:endParaRPr b="0" sz="1100">
                <a:solidFill>
                  <a:srgbClr val="475569"/>
                </a:solidFill>
                <a:latin typeface="Inter"/>
                <a:ea typeface="Inter"/>
                <a:cs typeface="Inter"/>
                <a:sym typeface="Inter"/>
              </a:endParaRPr>
            </a:p>
            <a:p>
              <a:pPr indent="0" lvl="0" marL="0" rtl="0" algn="l">
                <a:spcBef>
                  <a:spcPts val="600"/>
                </a:spcBef>
                <a:spcAft>
                  <a:spcPts val="0"/>
                </a:spcAft>
                <a:buNone/>
              </a:pPr>
              <a:r>
                <a:rPr b="0" lang="en" sz="1000">
                  <a:solidFill>
                    <a:srgbClr val="475569"/>
                  </a:solidFill>
                  <a:latin typeface="Inter"/>
                  <a:ea typeface="Inter"/>
                  <a:cs typeface="Inter"/>
                  <a:sym typeface="Inter"/>
                </a:rPr>
                <a:t>Based on a reconciled 3,426-account sample.</a:t>
              </a:r>
              <a:endParaRPr b="0" sz="1000">
                <a:solidFill>
                  <a:srgbClr val="475569"/>
                </a:solidFill>
                <a:latin typeface="Inter"/>
                <a:ea typeface="Inter"/>
                <a:cs typeface="Inter"/>
                <a:sym typeface="Inter"/>
              </a:endParaRPr>
            </a:p>
          </p:txBody>
        </p:sp>
      </p:grpSp>
      <p:grpSp>
        <p:nvGrpSpPr>
          <p:cNvPr id="88" name="Google Shape;88;p16"/>
          <p:cNvGrpSpPr/>
          <p:nvPr/>
        </p:nvGrpSpPr>
        <p:grpSpPr>
          <a:xfrm>
            <a:off x="3238500" y="1619250"/>
            <a:ext cx="2667000" cy="2667000"/>
            <a:chOff x="0" y="0"/>
            <a:chExt cx="2667000" cy="2667000"/>
          </a:xfrm>
        </p:grpSpPr>
        <p:sp>
          <p:nvSpPr>
            <p:cNvPr id="89" name="Google Shape;89;p16"/>
            <p:cNvSpPr/>
            <p:nvPr/>
          </p:nvSpPr>
          <p:spPr>
            <a:xfrm>
              <a:off x="0" y="0"/>
              <a:ext cx="2667000" cy="2667000"/>
            </a:xfrm>
            <a:prstGeom prst="roundRect">
              <a:avLst>
                <a:gd fmla="val 2857"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0" name="Google Shape;90;p16"/>
            <p:cNvSpPr/>
            <p:nvPr/>
          </p:nvSpPr>
          <p:spPr>
            <a:xfrm>
              <a:off x="0" y="0"/>
              <a:ext cx="2667000" cy="381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16"/>
            <p:cNvSpPr txBox="1"/>
            <p:nvPr/>
          </p:nvSpPr>
          <p:spPr>
            <a:xfrm>
              <a:off x="228600" y="228600"/>
              <a:ext cx="2209800" cy="2209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2563EB"/>
                  </a:solidFill>
                  <a:latin typeface="Inter SemiBold"/>
                  <a:ea typeface="Inter SemiBold"/>
                  <a:cs typeface="Inter SemiBold"/>
                  <a:sym typeface="Inter SemiBold"/>
                </a:rPr>
                <a:t>Waste</a:t>
              </a:r>
              <a:endParaRPr b="0" sz="900">
                <a:solidFill>
                  <a:srgbClr val="2563EB"/>
                </a:solidFill>
                <a:latin typeface="Inter SemiBold"/>
                <a:ea typeface="Inter SemiBold"/>
                <a:cs typeface="Inter SemiBold"/>
                <a:sym typeface="Inter SemiBold"/>
              </a:endParaRPr>
            </a:p>
            <a:p>
              <a:pPr indent="0" lvl="0" marL="0" rtl="0" algn="l">
                <a:spcBef>
                  <a:spcPts val="600"/>
                </a:spcBef>
                <a:spcAft>
                  <a:spcPts val="0"/>
                </a:spcAft>
                <a:buNone/>
              </a:pPr>
              <a:r>
                <a:rPr b="1" lang="en" sz="4200">
                  <a:solidFill>
                    <a:srgbClr val="2563EB"/>
                  </a:solidFill>
                  <a:latin typeface="Inter"/>
                  <a:ea typeface="Inter"/>
                  <a:cs typeface="Inter"/>
                  <a:sym typeface="Inter"/>
                </a:rPr>
                <a:t>10+</a:t>
              </a:r>
              <a:endParaRPr b="1" sz="4200">
                <a:solidFill>
                  <a:srgbClr val="2563EB"/>
                </a:solidFill>
                <a:latin typeface="Inter"/>
                <a:ea typeface="Inter"/>
                <a:cs typeface="Inter"/>
                <a:sym typeface="Inter"/>
              </a:endParaRPr>
            </a:p>
            <a:p>
              <a:pPr indent="0" lvl="0" marL="0" rtl="0" algn="l">
                <a:spcBef>
                  <a:spcPts val="900"/>
                </a:spcBef>
                <a:spcAft>
                  <a:spcPts val="0"/>
                </a:spcAft>
                <a:buNone/>
              </a:pPr>
              <a:r>
                <a:rPr b="1" lang="en" sz="1100">
                  <a:solidFill>
                    <a:srgbClr val="475569"/>
                  </a:solidFill>
                  <a:latin typeface="Inter"/>
                  <a:ea typeface="Inter"/>
                  <a:cs typeface="Inter"/>
                  <a:sym typeface="Inter"/>
                </a:rPr>
                <a:t>Minutes</a:t>
              </a:r>
              <a:r>
                <a:rPr b="0" lang="en" sz="1100">
                  <a:solidFill>
                    <a:srgbClr val="475569"/>
                  </a:solidFill>
                  <a:latin typeface="Inter"/>
                  <a:ea typeface="Inter"/>
                  <a:cs typeface="Inter"/>
                  <a:sym typeface="Inter"/>
                </a:rPr>
                <a:t> per case spent hunting information.</a:t>
              </a:r>
              <a:endParaRPr b="0" sz="1100">
                <a:solidFill>
                  <a:srgbClr val="475569"/>
                </a:solidFill>
                <a:latin typeface="Inter"/>
                <a:ea typeface="Inter"/>
                <a:cs typeface="Inter"/>
                <a:sym typeface="Inter"/>
              </a:endParaRPr>
            </a:p>
            <a:p>
              <a:pPr indent="0" lvl="0" marL="0" rtl="0" algn="l">
                <a:spcBef>
                  <a:spcPts val="600"/>
                </a:spcBef>
                <a:spcAft>
                  <a:spcPts val="0"/>
                </a:spcAft>
                <a:buNone/>
              </a:pPr>
              <a:r>
                <a:rPr b="0" lang="en" sz="1000">
                  <a:solidFill>
                    <a:srgbClr val="475569"/>
                  </a:solidFill>
                  <a:latin typeface="Inter"/>
                  <a:ea typeface="Inter"/>
                  <a:cs typeface="Inter"/>
                  <a:sym typeface="Inter"/>
                </a:rPr>
                <a:t>Incurred systematically before active customer contact.</a:t>
              </a:r>
              <a:endParaRPr b="0" sz="1000">
                <a:solidFill>
                  <a:srgbClr val="475569"/>
                </a:solidFill>
                <a:latin typeface="Inter"/>
                <a:ea typeface="Inter"/>
                <a:cs typeface="Inter"/>
                <a:sym typeface="Inter"/>
              </a:endParaRPr>
            </a:p>
          </p:txBody>
        </p:sp>
      </p:grpSp>
      <p:grpSp>
        <p:nvGrpSpPr>
          <p:cNvPr id="92" name="Google Shape;92;p16"/>
          <p:cNvGrpSpPr/>
          <p:nvPr/>
        </p:nvGrpSpPr>
        <p:grpSpPr>
          <a:xfrm>
            <a:off x="6096000" y="1619250"/>
            <a:ext cx="2667000" cy="2667000"/>
            <a:chOff x="0" y="0"/>
            <a:chExt cx="2667000" cy="2667000"/>
          </a:xfrm>
        </p:grpSpPr>
        <p:sp>
          <p:nvSpPr>
            <p:cNvPr id="93" name="Google Shape;93;p16"/>
            <p:cNvSpPr/>
            <p:nvPr/>
          </p:nvSpPr>
          <p:spPr>
            <a:xfrm>
              <a:off x="0" y="0"/>
              <a:ext cx="2667000" cy="2667000"/>
            </a:xfrm>
            <a:prstGeom prst="roundRect">
              <a:avLst>
                <a:gd fmla="val 2857"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 name="Google Shape;94;p16"/>
            <p:cNvSpPr/>
            <p:nvPr/>
          </p:nvSpPr>
          <p:spPr>
            <a:xfrm>
              <a:off x="0" y="0"/>
              <a:ext cx="2667000" cy="381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6"/>
            <p:cNvSpPr txBox="1"/>
            <p:nvPr/>
          </p:nvSpPr>
          <p:spPr>
            <a:xfrm>
              <a:off x="228600" y="228600"/>
              <a:ext cx="2209800" cy="2209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D97706"/>
                  </a:solidFill>
                  <a:latin typeface="Inter SemiBold"/>
                  <a:ea typeface="Inter SemiBold"/>
                  <a:cs typeface="Inter SemiBold"/>
                  <a:sym typeface="Inter SemiBold"/>
                </a:rPr>
                <a:t>Impact</a:t>
              </a:r>
              <a:endParaRPr b="0" sz="900">
                <a:solidFill>
                  <a:srgbClr val="D97706"/>
                </a:solidFill>
                <a:latin typeface="Inter SemiBold"/>
                <a:ea typeface="Inter SemiBold"/>
                <a:cs typeface="Inter SemiBold"/>
                <a:sym typeface="Inter SemiBold"/>
              </a:endParaRPr>
            </a:p>
            <a:p>
              <a:pPr indent="0" lvl="0" marL="0" rtl="0" algn="l">
                <a:spcBef>
                  <a:spcPts val="600"/>
                </a:spcBef>
                <a:spcAft>
                  <a:spcPts val="0"/>
                </a:spcAft>
                <a:buNone/>
              </a:pPr>
              <a:r>
                <a:rPr b="1" lang="en" sz="4200">
                  <a:solidFill>
                    <a:srgbClr val="D97706"/>
                  </a:solidFill>
                  <a:latin typeface="Inter"/>
                  <a:ea typeface="Inter"/>
                  <a:cs typeface="Inter"/>
                  <a:sym typeface="Inter"/>
                </a:rPr>
                <a:t>15%</a:t>
              </a:r>
              <a:endParaRPr b="1" sz="4200">
                <a:solidFill>
                  <a:srgbClr val="D97706"/>
                </a:solidFill>
                <a:latin typeface="Inter"/>
                <a:ea typeface="Inter"/>
                <a:cs typeface="Inter"/>
                <a:sym typeface="Inter"/>
              </a:endParaRPr>
            </a:p>
            <a:p>
              <a:pPr indent="0" lvl="0" marL="0" rtl="0" algn="l">
                <a:spcBef>
                  <a:spcPts val="900"/>
                </a:spcBef>
                <a:spcAft>
                  <a:spcPts val="0"/>
                </a:spcAft>
                <a:buNone/>
              </a:pPr>
              <a:r>
                <a:rPr b="1" lang="en" sz="1100">
                  <a:solidFill>
                    <a:srgbClr val="475569"/>
                  </a:solidFill>
                  <a:latin typeface="Inter"/>
                  <a:ea typeface="Inter"/>
                  <a:cs typeface="Inter"/>
                  <a:sym typeface="Inter"/>
                </a:rPr>
                <a:t>Revenue leak</a:t>
              </a:r>
              <a:r>
                <a:rPr b="0" lang="en" sz="1100">
                  <a:solidFill>
                    <a:srgbClr val="475569"/>
                  </a:solidFill>
                  <a:latin typeface="Inter"/>
                  <a:ea typeface="Inter"/>
                  <a:cs typeface="Inter"/>
                  <a:sym typeface="Inter"/>
                </a:rPr>
                <a:t> caused by operational complexity.</a:t>
              </a:r>
              <a:endParaRPr b="0" sz="1100">
                <a:solidFill>
                  <a:srgbClr val="475569"/>
                </a:solidFill>
                <a:latin typeface="Inter"/>
                <a:ea typeface="Inter"/>
                <a:cs typeface="Inter"/>
                <a:sym typeface="Inter"/>
              </a:endParaRPr>
            </a:p>
            <a:p>
              <a:pPr indent="0" lvl="0" marL="0" rtl="0" algn="l">
                <a:spcBef>
                  <a:spcPts val="600"/>
                </a:spcBef>
                <a:spcAft>
                  <a:spcPts val="0"/>
                </a:spcAft>
                <a:buNone/>
              </a:pPr>
              <a:r>
                <a:rPr b="0" lang="en" sz="1000">
                  <a:solidFill>
                    <a:srgbClr val="475569"/>
                  </a:solidFill>
                  <a:latin typeface="Inter"/>
                  <a:ea typeface="Inter"/>
                  <a:cs typeface="Inter"/>
                  <a:sym typeface="Inter"/>
                </a:rPr>
                <a:t>Compounded by duplicated effort, missed follow-ups, and inconsistent status codes.</a:t>
              </a:r>
              <a:endParaRPr b="0" sz="1000">
                <a:solidFill>
                  <a:srgbClr val="475569"/>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grpSp>
        <p:nvGrpSpPr>
          <p:cNvPr id="100" name="Google Shape;100;p17"/>
          <p:cNvGrpSpPr/>
          <p:nvPr/>
        </p:nvGrpSpPr>
        <p:grpSpPr>
          <a:xfrm>
            <a:off x="8610600" y="381000"/>
            <a:ext cx="228600" cy="228600"/>
            <a:chOff x="0" y="0"/>
            <a:chExt cx="228600" cy="228600"/>
          </a:xfrm>
        </p:grpSpPr>
        <p:sp>
          <p:nvSpPr>
            <p:cNvPr id="101" name="Google Shape;101;p17"/>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7"/>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03" name="Google Shape;103;p17"/>
          <p:cNvSpPr txBox="1"/>
          <p:nvPr/>
        </p:nvSpPr>
        <p:spPr>
          <a:xfrm>
            <a:off x="381000" y="342900"/>
            <a:ext cx="8001000" cy="7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400">
                <a:solidFill>
                  <a:srgbClr val="0F172A"/>
                </a:solidFill>
                <a:latin typeface="Inter"/>
                <a:ea typeface="Inter"/>
                <a:cs typeface="Inter"/>
                <a:sym typeface="Inter"/>
              </a:rPr>
              <a:t>Three stakeholder-validated pain points explain nearly all of the leakage.</a:t>
            </a:r>
            <a:endParaRPr b="1" sz="2400">
              <a:solidFill>
                <a:srgbClr val="0F172A"/>
              </a:solidFill>
              <a:latin typeface="Inter"/>
              <a:ea typeface="Inter"/>
              <a:cs typeface="Inter"/>
              <a:sym typeface="Inter"/>
            </a:endParaRPr>
          </a:p>
        </p:txBody>
      </p:sp>
      <p:sp>
        <p:nvSpPr>
          <p:cNvPr id="104" name="Google Shape;104;p17"/>
          <p:cNvSpPr/>
          <p:nvPr/>
        </p:nvSpPr>
        <p:spPr>
          <a:xfrm>
            <a:off x="381000" y="1047750"/>
            <a:ext cx="8382000" cy="192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05" name="Google Shape;105;p17"/>
          <p:cNvGrpSpPr/>
          <p:nvPr/>
        </p:nvGrpSpPr>
        <p:grpSpPr>
          <a:xfrm>
            <a:off x="381000" y="1238250"/>
            <a:ext cx="8382000" cy="952500"/>
            <a:chOff x="0" y="0"/>
            <a:chExt cx="8382000" cy="952500"/>
          </a:xfrm>
        </p:grpSpPr>
        <p:sp>
          <p:nvSpPr>
            <p:cNvPr id="106" name="Google Shape;106;p17"/>
            <p:cNvSpPr/>
            <p:nvPr/>
          </p:nvSpPr>
          <p:spPr>
            <a:xfrm>
              <a:off x="0" y="0"/>
              <a:ext cx="8382000" cy="952500"/>
            </a:xfrm>
            <a:prstGeom prst="roundRect">
              <a:avLst>
                <a:gd fmla="val 4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7"/>
            <p:cNvSpPr/>
            <p:nvPr/>
          </p:nvSpPr>
          <p:spPr>
            <a:xfrm>
              <a:off x="0" y="0"/>
              <a:ext cx="38100" cy="9525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7"/>
            <p:cNvSpPr txBox="1"/>
            <p:nvPr/>
          </p:nvSpPr>
          <p:spPr>
            <a:xfrm>
              <a:off x="228600" y="152400"/>
              <a:ext cx="7924800" cy="647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i="1" lang="en" sz="1300">
                  <a:solidFill>
                    <a:srgbClr val="0F172A"/>
                  </a:solidFill>
                  <a:latin typeface="Inter Medium"/>
                  <a:ea typeface="Inter Medium"/>
                  <a:cs typeface="Inter Medium"/>
                  <a:sym typeface="Inter Medium"/>
                </a:rPr>
                <a:t>"10+ minutes hunting data per case."</a:t>
              </a:r>
              <a:endParaRPr b="0" i="1" sz="1300">
                <a:solidFill>
                  <a:srgbClr val="0F172A"/>
                </a:solidFill>
                <a:latin typeface="Inter Medium"/>
                <a:ea typeface="Inter Medium"/>
                <a:cs typeface="Inter Medium"/>
                <a:sym typeface="Inter Medium"/>
              </a:endParaRPr>
            </a:p>
            <a:p>
              <a:pPr indent="0" lvl="0" marL="0" rtl="0" algn="l">
                <a:spcBef>
                  <a:spcPts val="450"/>
                </a:spcBef>
                <a:spcAft>
                  <a:spcPts val="0"/>
                </a:spcAft>
                <a:buNone/>
              </a:pPr>
              <a:r>
                <a:rPr b="1" lang="en" sz="900">
                  <a:solidFill>
                    <a:srgbClr val="475569"/>
                  </a:solidFill>
                  <a:latin typeface="Inter"/>
                  <a:ea typeface="Inter"/>
                  <a:cs typeface="Inter"/>
                  <a:sym typeface="Inter"/>
                </a:rPr>
                <a:t>SN-037 (Missing Context)</a:t>
              </a:r>
              <a:r>
                <a:rPr b="0" lang="en" sz="900">
                  <a:solidFill>
                    <a:srgbClr val="2563EB"/>
                  </a:solidFill>
                  <a:latin typeface="Inter SemiBold"/>
                  <a:ea typeface="Inter SemiBold"/>
                  <a:cs typeface="Inter SemiBold"/>
                  <a:sym typeface="Inter SemiBold"/>
                </a:rPr>
                <a:t>  •  Justifies OPP-01</a:t>
              </a:r>
              <a:endParaRPr b="0" sz="900">
                <a:solidFill>
                  <a:srgbClr val="2563EB"/>
                </a:solidFill>
                <a:latin typeface="Inter SemiBold"/>
                <a:ea typeface="Inter SemiBold"/>
                <a:cs typeface="Inter SemiBold"/>
                <a:sym typeface="Inter SemiBold"/>
              </a:endParaRPr>
            </a:p>
          </p:txBody>
        </p:sp>
      </p:grpSp>
      <p:grpSp>
        <p:nvGrpSpPr>
          <p:cNvPr id="109" name="Google Shape;109;p17"/>
          <p:cNvGrpSpPr/>
          <p:nvPr/>
        </p:nvGrpSpPr>
        <p:grpSpPr>
          <a:xfrm>
            <a:off x="381000" y="2381250"/>
            <a:ext cx="8382000" cy="952500"/>
            <a:chOff x="0" y="0"/>
            <a:chExt cx="8382000" cy="952500"/>
          </a:xfrm>
        </p:grpSpPr>
        <p:sp>
          <p:nvSpPr>
            <p:cNvPr id="110" name="Google Shape;110;p17"/>
            <p:cNvSpPr/>
            <p:nvPr/>
          </p:nvSpPr>
          <p:spPr>
            <a:xfrm>
              <a:off x="0" y="0"/>
              <a:ext cx="8382000" cy="952500"/>
            </a:xfrm>
            <a:prstGeom prst="roundRect">
              <a:avLst>
                <a:gd fmla="val 4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7"/>
            <p:cNvSpPr/>
            <p:nvPr/>
          </p:nvSpPr>
          <p:spPr>
            <a:xfrm>
              <a:off x="0" y="0"/>
              <a:ext cx="38100" cy="9525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2" name="Google Shape;112;p17"/>
            <p:cNvSpPr txBox="1"/>
            <p:nvPr/>
          </p:nvSpPr>
          <p:spPr>
            <a:xfrm>
              <a:off x="228600" y="152400"/>
              <a:ext cx="7924800" cy="647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i="1" lang="en" sz="1300">
                  <a:solidFill>
                    <a:srgbClr val="0F172A"/>
                  </a:solidFill>
                  <a:latin typeface="Inter Medium"/>
                  <a:ea typeface="Inter Medium"/>
                  <a:cs typeface="Inter Medium"/>
                  <a:sym typeface="Inter Medium"/>
                </a:rPr>
                <a:t>"Status conflicts and duplicated outreach."</a:t>
              </a:r>
              <a:endParaRPr b="0" i="1" sz="1300">
                <a:solidFill>
                  <a:srgbClr val="0F172A"/>
                </a:solidFill>
                <a:latin typeface="Inter Medium"/>
                <a:ea typeface="Inter Medium"/>
                <a:cs typeface="Inter Medium"/>
                <a:sym typeface="Inter Medium"/>
              </a:endParaRPr>
            </a:p>
            <a:p>
              <a:pPr indent="0" lvl="0" marL="0" rtl="0" algn="l">
                <a:spcBef>
                  <a:spcPts val="450"/>
                </a:spcBef>
                <a:spcAft>
                  <a:spcPts val="0"/>
                </a:spcAft>
                <a:buNone/>
              </a:pPr>
              <a:r>
                <a:rPr b="1" lang="en" sz="900">
                  <a:solidFill>
                    <a:srgbClr val="475569"/>
                  </a:solidFill>
                  <a:latin typeface="Inter"/>
                  <a:ea typeface="Inter"/>
                  <a:cs typeface="Inter"/>
                  <a:sym typeface="Inter"/>
                </a:rPr>
                <a:t>SN-038 (No Single Truth)</a:t>
              </a:r>
              <a:r>
                <a:rPr b="0" lang="en" sz="900">
                  <a:solidFill>
                    <a:srgbClr val="2563EB"/>
                  </a:solidFill>
                  <a:latin typeface="Inter SemiBold"/>
                  <a:ea typeface="Inter SemiBold"/>
                  <a:cs typeface="Inter SemiBold"/>
                  <a:sym typeface="Inter SemiBold"/>
                </a:rPr>
                <a:t>  •  Justifies OPP-03</a:t>
              </a:r>
              <a:endParaRPr b="0" sz="900">
                <a:solidFill>
                  <a:srgbClr val="2563EB"/>
                </a:solidFill>
                <a:latin typeface="Inter SemiBold"/>
                <a:ea typeface="Inter SemiBold"/>
                <a:cs typeface="Inter SemiBold"/>
                <a:sym typeface="Inter SemiBold"/>
              </a:endParaRPr>
            </a:p>
          </p:txBody>
        </p:sp>
      </p:grpSp>
      <p:grpSp>
        <p:nvGrpSpPr>
          <p:cNvPr id="113" name="Google Shape;113;p17"/>
          <p:cNvGrpSpPr/>
          <p:nvPr/>
        </p:nvGrpSpPr>
        <p:grpSpPr>
          <a:xfrm>
            <a:off x="381000" y="3524250"/>
            <a:ext cx="8382000" cy="952500"/>
            <a:chOff x="0" y="0"/>
            <a:chExt cx="8382000" cy="952500"/>
          </a:xfrm>
        </p:grpSpPr>
        <p:sp>
          <p:nvSpPr>
            <p:cNvPr id="114" name="Google Shape;114;p17"/>
            <p:cNvSpPr/>
            <p:nvPr/>
          </p:nvSpPr>
          <p:spPr>
            <a:xfrm>
              <a:off x="0" y="0"/>
              <a:ext cx="8382000" cy="952500"/>
            </a:xfrm>
            <a:prstGeom prst="roundRect">
              <a:avLst>
                <a:gd fmla="val 4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7"/>
            <p:cNvSpPr/>
            <p:nvPr/>
          </p:nvSpPr>
          <p:spPr>
            <a:xfrm>
              <a:off x="0" y="0"/>
              <a:ext cx="38100" cy="9525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6" name="Google Shape;116;p17"/>
            <p:cNvSpPr txBox="1"/>
            <p:nvPr/>
          </p:nvSpPr>
          <p:spPr>
            <a:xfrm>
              <a:off x="228600" y="152400"/>
              <a:ext cx="7924800" cy="647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i="1" lang="en" sz="1300">
                  <a:solidFill>
                    <a:srgbClr val="0F172A"/>
                  </a:solidFill>
                  <a:latin typeface="Inter Medium"/>
                  <a:ea typeface="Inter Medium"/>
                  <a:cs typeface="Inter Medium"/>
                  <a:sym typeface="Inter Medium"/>
                </a:rPr>
                <a:t>"Demand for past interaction records."</a:t>
              </a:r>
              <a:endParaRPr b="0" i="1" sz="1300">
                <a:solidFill>
                  <a:srgbClr val="0F172A"/>
                </a:solidFill>
                <a:latin typeface="Inter Medium"/>
                <a:ea typeface="Inter Medium"/>
                <a:cs typeface="Inter Medium"/>
                <a:sym typeface="Inter Medium"/>
              </a:endParaRPr>
            </a:p>
            <a:p>
              <a:pPr indent="0" lvl="0" marL="0" rtl="0" algn="l">
                <a:spcBef>
                  <a:spcPts val="450"/>
                </a:spcBef>
                <a:spcAft>
                  <a:spcPts val="0"/>
                </a:spcAft>
                <a:buNone/>
              </a:pPr>
              <a:r>
                <a:rPr b="1" lang="en" sz="900">
                  <a:solidFill>
                    <a:srgbClr val="475569"/>
                  </a:solidFill>
                  <a:latin typeface="Inter"/>
                  <a:ea typeface="Inter"/>
                  <a:cs typeface="Inter"/>
                  <a:sym typeface="Inter"/>
                </a:rPr>
                <a:t>SN-001/SN-002 (Customer Transparency)</a:t>
              </a:r>
              <a:r>
                <a:rPr b="0" lang="en" sz="900">
                  <a:solidFill>
                    <a:srgbClr val="2563EB"/>
                  </a:solidFill>
                  <a:latin typeface="Inter SemiBold"/>
                  <a:ea typeface="Inter SemiBold"/>
                  <a:cs typeface="Inter SemiBold"/>
                  <a:sym typeface="Inter SemiBold"/>
                </a:rPr>
                <a:t>  •  Justifies self-service portal</a:t>
              </a:r>
              <a:endParaRPr b="0" sz="900">
                <a:solidFill>
                  <a:srgbClr val="2563EB"/>
                </a:solidFill>
                <a:latin typeface="Inter SemiBold"/>
                <a:ea typeface="Inter SemiBold"/>
                <a:cs typeface="Inter SemiBold"/>
                <a:sym typeface="Inter SemiBold"/>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grpSp>
        <p:nvGrpSpPr>
          <p:cNvPr id="121" name="Google Shape;121;p18"/>
          <p:cNvGrpSpPr/>
          <p:nvPr/>
        </p:nvGrpSpPr>
        <p:grpSpPr>
          <a:xfrm>
            <a:off x="0" y="0"/>
            <a:ext cx="9144000" cy="5143500"/>
            <a:chOff x="0" y="0"/>
            <a:chExt cx="9144000" cy="5143500"/>
          </a:xfrm>
        </p:grpSpPr>
        <p:sp>
          <p:nvSpPr>
            <p:cNvPr id="122" name="Google Shape;122;p18"/>
            <p:cNvSpPr txBox="1"/>
            <p:nvPr/>
          </p:nvSpPr>
          <p:spPr>
            <a:xfrm>
              <a:off x="381000" y="342900"/>
              <a:ext cx="8001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 sz="2220" u="none" strike="noStrike">
                  <a:solidFill>
                    <a:srgbClr val="0F172A"/>
                  </a:solidFill>
                  <a:latin typeface="Inter"/>
                  <a:ea typeface="Inter"/>
                  <a:cs typeface="Inter"/>
                  <a:sym typeface="Inter"/>
                </a:rPr>
                <a:t>Two opportunities pay back on time savings alone; the rest are credible upside, not the basis for approval.</a:t>
              </a:r>
              <a:endParaRPr b="1" i="0" sz="2220" u="none" strike="noStrike">
                <a:solidFill>
                  <a:srgbClr val="0F172A"/>
                </a:solidFill>
                <a:latin typeface="Inter"/>
                <a:ea typeface="Inter"/>
                <a:cs typeface="Inter"/>
                <a:sym typeface="Inter"/>
              </a:endParaRPr>
            </a:p>
          </p:txBody>
        </p:sp>
        <p:sp>
          <p:nvSpPr>
            <p:cNvPr id="123" name="Google Shape;123;p18"/>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24" name="Google Shape;124;p18"/>
            <p:cNvGrpSpPr/>
            <p:nvPr/>
          </p:nvGrpSpPr>
          <p:grpSpPr>
            <a:xfrm>
              <a:off x="8610600" y="381000"/>
              <a:ext cx="228600" cy="228600"/>
              <a:chOff x="0" y="0"/>
              <a:chExt cx="228600" cy="228600"/>
            </a:xfrm>
          </p:grpSpPr>
          <p:sp>
            <p:nvSpPr>
              <p:cNvPr id="125" name="Google Shape;125;p18"/>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8"/>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27" name="Google Shape;127;p18"/>
            <p:cNvSpPr/>
            <p:nvPr/>
          </p:nvSpPr>
          <p:spPr>
            <a:xfrm>
              <a:off x="381000" y="1238250"/>
              <a:ext cx="8382000" cy="192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128" name="Google Shape;128;p18"/>
          <p:cNvGrpSpPr/>
          <p:nvPr/>
        </p:nvGrpSpPr>
        <p:grpSpPr>
          <a:xfrm>
            <a:off x="381000" y="1428750"/>
            <a:ext cx="4000500" cy="952500"/>
            <a:chOff x="0" y="0"/>
            <a:chExt cx="4000500" cy="952500"/>
          </a:xfrm>
        </p:grpSpPr>
        <p:sp>
          <p:nvSpPr>
            <p:cNvPr id="129" name="Google Shape;129;p18"/>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0" name="Google Shape;130;p18"/>
            <p:cNvGrpSpPr/>
            <p:nvPr/>
          </p:nvGrpSpPr>
          <p:grpSpPr>
            <a:xfrm>
              <a:off x="152400" y="361950"/>
              <a:ext cx="228600" cy="228600"/>
              <a:chOff x="0" y="0"/>
              <a:chExt cx="228600" cy="228600"/>
            </a:xfrm>
          </p:grpSpPr>
          <p:sp>
            <p:nvSpPr>
              <p:cNvPr id="131" name="Google Shape;131;p18"/>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8"/>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33" name="Google Shape;133;p18"/>
            <p:cNvSpPr txBox="1"/>
            <p:nvPr/>
          </p:nvSpPr>
          <p:spPr>
            <a:xfrm>
              <a:off x="495300" y="114300"/>
              <a:ext cx="3352800" cy="723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50" u="none" strike="noStrike">
                  <a:solidFill>
                    <a:srgbClr val="059669"/>
                  </a:solidFill>
                  <a:latin typeface="Inter SemiBold"/>
                  <a:ea typeface="Inter SemiBold"/>
                  <a:cs typeface="Inter SemiBold"/>
                  <a:sym typeface="Inter SemiBold"/>
                </a:rPr>
                <a:t>OPP-01: UNIFIED PROFILE (POSITIVE ROI)</a:t>
              </a:r>
              <a:endParaRPr b="0" i="0" sz="850" u="none" strike="noStrike">
                <a:solidFill>
                  <a:srgbClr val="059669"/>
                </a:solidFill>
                <a:latin typeface="Inter SemiBold"/>
                <a:ea typeface="Inter SemiBold"/>
                <a:cs typeface="Inter SemiBold"/>
                <a:sym typeface="Inter SemiBold"/>
              </a:endParaRPr>
            </a:p>
            <a:p>
              <a:pPr indent="0" lvl="0" marL="0" rtl="0" algn="l">
                <a:spcBef>
                  <a:spcPts val="300"/>
                </a:spcBef>
                <a:spcAft>
                  <a:spcPts val="0"/>
                </a:spcAft>
                <a:buNone/>
              </a:pPr>
              <a:r>
                <a:rPr b="1" i="0" lang="en" sz="1300" u="none" strike="noStrike">
                  <a:solidFill>
                    <a:srgbClr val="0F172A"/>
                  </a:solidFill>
                  <a:latin typeface="Inter"/>
                  <a:ea typeface="Inter"/>
                  <a:cs typeface="Inter"/>
                  <a:sym typeface="Inter"/>
                </a:rPr>
                <a:t>10-14 min/case saved</a:t>
              </a:r>
              <a:endParaRPr b="0" i="0" sz="850" u="none" strike="noStrike">
                <a:solidFill>
                  <a:srgbClr val="059669"/>
                </a:solidFill>
                <a:latin typeface="Inter SemiBold"/>
                <a:ea typeface="Inter SemiBold"/>
                <a:cs typeface="Inter SemiBold"/>
                <a:sym typeface="Inter SemiBold"/>
              </a:endParaRPr>
            </a:p>
            <a:p>
              <a:pPr indent="0" lvl="0" marL="0" rtl="0" algn="l">
                <a:spcBef>
                  <a:spcPts val="150"/>
                </a:spcBef>
                <a:spcAft>
                  <a:spcPts val="0"/>
                </a:spcAft>
                <a:buNone/>
              </a:pPr>
              <a:r>
                <a:rPr b="0" i="0" lang="en" sz="950" u="none" strike="noStrike">
                  <a:solidFill>
                    <a:srgbClr val="475569"/>
                  </a:solidFill>
                  <a:latin typeface="Inter"/>
                  <a:ea typeface="Inter"/>
                  <a:cs typeface="Inter"/>
                  <a:sym typeface="Inter"/>
                </a:rPr>
                <a:t>Direct payback on time savings alone.</a:t>
              </a:r>
              <a:endParaRPr b="0" i="0" sz="850" u="none" strike="noStrike">
                <a:solidFill>
                  <a:srgbClr val="059669"/>
                </a:solidFill>
                <a:latin typeface="Inter SemiBold"/>
                <a:ea typeface="Inter SemiBold"/>
                <a:cs typeface="Inter SemiBold"/>
                <a:sym typeface="Inter SemiBold"/>
              </a:endParaRPr>
            </a:p>
          </p:txBody>
        </p:sp>
      </p:grpSp>
      <p:grpSp>
        <p:nvGrpSpPr>
          <p:cNvPr id="134" name="Google Shape;134;p18"/>
          <p:cNvGrpSpPr/>
          <p:nvPr/>
        </p:nvGrpSpPr>
        <p:grpSpPr>
          <a:xfrm>
            <a:off x="381000" y="2524125"/>
            <a:ext cx="4000500" cy="952500"/>
            <a:chOff x="0" y="0"/>
            <a:chExt cx="4000500" cy="952500"/>
          </a:xfrm>
        </p:grpSpPr>
        <p:sp>
          <p:nvSpPr>
            <p:cNvPr id="135" name="Google Shape;135;p18"/>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6" name="Google Shape;136;p18"/>
            <p:cNvGrpSpPr/>
            <p:nvPr/>
          </p:nvGrpSpPr>
          <p:grpSpPr>
            <a:xfrm>
              <a:off x="152400" y="361950"/>
              <a:ext cx="228600" cy="228600"/>
              <a:chOff x="0" y="0"/>
              <a:chExt cx="228600" cy="228600"/>
            </a:xfrm>
          </p:grpSpPr>
          <p:sp>
            <p:nvSpPr>
              <p:cNvPr id="137" name="Google Shape;137;p18"/>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8"/>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39" name="Google Shape;139;p18"/>
            <p:cNvSpPr txBox="1"/>
            <p:nvPr/>
          </p:nvSpPr>
          <p:spPr>
            <a:xfrm>
              <a:off x="495300" y="114300"/>
              <a:ext cx="3352800" cy="723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50" u="none" strike="noStrike">
                  <a:solidFill>
                    <a:srgbClr val="059669"/>
                  </a:solidFill>
                  <a:latin typeface="Inter SemiBold"/>
                  <a:ea typeface="Inter SemiBold"/>
                  <a:cs typeface="Inter SemiBold"/>
                  <a:sym typeface="Inter SemiBold"/>
                </a:rPr>
                <a:t>OPP-03: AUTOMATED LOGGING (POSITIVE ROI)</a:t>
              </a:r>
              <a:endParaRPr b="0" i="0" sz="850" u="none" strike="noStrike">
                <a:solidFill>
                  <a:srgbClr val="059669"/>
                </a:solidFill>
                <a:latin typeface="Inter SemiBold"/>
                <a:ea typeface="Inter SemiBold"/>
                <a:cs typeface="Inter SemiBold"/>
                <a:sym typeface="Inter SemiBold"/>
              </a:endParaRPr>
            </a:p>
            <a:p>
              <a:pPr indent="0" lvl="0" marL="0" rtl="0" algn="l">
                <a:spcBef>
                  <a:spcPts val="300"/>
                </a:spcBef>
                <a:spcAft>
                  <a:spcPts val="0"/>
                </a:spcAft>
                <a:buNone/>
              </a:pPr>
              <a:r>
                <a:rPr b="1" i="0" lang="en" sz="1300" u="none" strike="noStrike">
                  <a:solidFill>
                    <a:srgbClr val="0F172A"/>
                  </a:solidFill>
                  <a:latin typeface="Inter"/>
                  <a:ea typeface="Inter"/>
                  <a:cs typeface="Inter"/>
                  <a:sym typeface="Inter"/>
                </a:rPr>
                <a:t>4-6 min/case saved</a:t>
              </a:r>
              <a:endParaRPr b="0" i="0" sz="850" u="none" strike="noStrike">
                <a:solidFill>
                  <a:srgbClr val="059669"/>
                </a:solidFill>
                <a:latin typeface="Inter SemiBold"/>
                <a:ea typeface="Inter SemiBold"/>
                <a:cs typeface="Inter SemiBold"/>
                <a:sym typeface="Inter SemiBold"/>
              </a:endParaRPr>
            </a:p>
            <a:p>
              <a:pPr indent="0" lvl="0" marL="0" rtl="0" algn="l">
                <a:spcBef>
                  <a:spcPts val="150"/>
                </a:spcBef>
                <a:spcAft>
                  <a:spcPts val="0"/>
                </a:spcAft>
                <a:buNone/>
              </a:pPr>
              <a:r>
                <a:rPr b="0" i="0" lang="en" sz="950" u="none" strike="noStrike">
                  <a:solidFill>
                    <a:srgbClr val="475569"/>
                  </a:solidFill>
                  <a:latin typeface="Inter"/>
                  <a:ea typeface="Inter"/>
                  <a:cs typeface="Inter"/>
                  <a:sym typeface="Inter"/>
                </a:rPr>
                <a:t>Direct payback on time savings alone.</a:t>
              </a:r>
              <a:endParaRPr b="0" i="0" sz="850" u="none" strike="noStrike">
                <a:solidFill>
                  <a:srgbClr val="059669"/>
                </a:solidFill>
                <a:latin typeface="Inter SemiBold"/>
                <a:ea typeface="Inter SemiBold"/>
                <a:cs typeface="Inter SemiBold"/>
                <a:sym typeface="Inter SemiBold"/>
              </a:endParaRPr>
            </a:p>
          </p:txBody>
        </p:sp>
      </p:grpSp>
      <p:grpSp>
        <p:nvGrpSpPr>
          <p:cNvPr id="140" name="Google Shape;140;p18"/>
          <p:cNvGrpSpPr/>
          <p:nvPr/>
        </p:nvGrpSpPr>
        <p:grpSpPr>
          <a:xfrm>
            <a:off x="381000" y="3619500"/>
            <a:ext cx="4000500" cy="952500"/>
            <a:chOff x="0" y="0"/>
            <a:chExt cx="4000500" cy="952500"/>
          </a:xfrm>
        </p:grpSpPr>
        <p:sp>
          <p:nvSpPr>
            <p:cNvPr id="141" name="Google Shape;141;p18"/>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42" name="Google Shape;142;p18"/>
            <p:cNvGrpSpPr/>
            <p:nvPr/>
          </p:nvGrpSpPr>
          <p:grpSpPr>
            <a:xfrm>
              <a:off x="152400" y="361950"/>
              <a:ext cx="228600" cy="228600"/>
              <a:chOff x="0" y="0"/>
              <a:chExt cx="228600" cy="228600"/>
            </a:xfrm>
          </p:grpSpPr>
          <p:sp>
            <p:nvSpPr>
              <p:cNvPr id="143" name="Google Shape;143;p18"/>
              <p:cNvSpPr/>
              <p:nvPr/>
            </p:nvSpPr>
            <p:spPr>
              <a:xfrm>
                <a:off x="0" y="0"/>
                <a:ext cx="228600" cy="228600"/>
              </a:xfrm>
              <a:prstGeom prst="ellipse">
                <a:avLst/>
              </a:prstGeom>
              <a:solidFill>
                <a:srgbClr val="D97706">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8"/>
              <p:cNvSpPr/>
              <p:nvPr/>
            </p:nvSpPr>
            <p:spPr>
              <a:xfrm>
                <a:off x="114300" y="66675"/>
                <a:ext cx="0" cy="95400"/>
              </a:xfrm>
              <a:custGeom>
                <a:rect b="b" l="l" r="r" t="t"/>
                <a:pathLst>
                  <a:path extrusionOk="0" h="120000" w="120000">
                    <a:moveTo>
                      <a:pt x="0" y="0"/>
                    </a:moveTo>
                    <a:lnTo>
                      <a:pt x="0" y="72000"/>
                    </a:lnTo>
                    <a:moveTo>
                      <a:pt x="0" y="120000"/>
                    </a:moveTo>
                    <a:lnTo>
                      <a:pt x="120000" y="120000"/>
                    </a:lnTo>
                  </a:path>
                </a:pathLst>
              </a:custGeom>
              <a:solidFill>
                <a:srgbClr val="000000"/>
              </a:solidFill>
              <a:ln cap="rnd" cmpd="sng" w="19050">
                <a:solidFill>
                  <a:srgbClr val="D9770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45" name="Google Shape;145;p18"/>
            <p:cNvSpPr txBox="1"/>
            <p:nvPr/>
          </p:nvSpPr>
          <p:spPr>
            <a:xfrm>
              <a:off x="495300" y="114300"/>
              <a:ext cx="3352800" cy="723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50" u="none" strike="noStrike">
                  <a:solidFill>
                    <a:srgbClr val="D97706"/>
                  </a:solidFill>
                  <a:latin typeface="Inter SemiBold"/>
                  <a:ea typeface="Inter SemiBold"/>
                  <a:cs typeface="Inter SemiBold"/>
                  <a:sym typeface="Inter SemiBold"/>
                </a:rPr>
                <a:t>OPP-02: SELF-SERVICE 40% SCOPE (NEGATIVE BASE-CASE ROI)</a:t>
              </a:r>
              <a:endParaRPr b="0" i="0" sz="850" u="none" strike="noStrike">
                <a:solidFill>
                  <a:srgbClr val="D97706"/>
                </a:solidFill>
                <a:latin typeface="Inter SemiBold"/>
                <a:ea typeface="Inter SemiBold"/>
                <a:cs typeface="Inter SemiBold"/>
                <a:sym typeface="Inter SemiBold"/>
              </a:endParaRPr>
            </a:p>
            <a:p>
              <a:pPr indent="0" lvl="0" marL="0" rtl="0" algn="l">
                <a:spcBef>
                  <a:spcPts val="300"/>
                </a:spcBef>
                <a:spcAft>
                  <a:spcPts val="0"/>
                </a:spcAft>
                <a:buNone/>
              </a:pPr>
              <a:r>
                <a:rPr b="1" i="0" lang="en" sz="1300" u="none" strike="noStrike">
                  <a:solidFill>
                    <a:srgbClr val="0F172A"/>
                  </a:solidFill>
                  <a:latin typeface="Inter"/>
                  <a:ea typeface="Inter"/>
                  <a:cs typeface="Inter"/>
                  <a:sym typeface="Inter"/>
                </a:rPr>
                <a:t>8-14 min avoided</a:t>
              </a:r>
              <a:endParaRPr b="0" i="0" sz="850" u="none" strike="noStrike">
                <a:solidFill>
                  <a:srgbClr val="D97706"/>
                </a:solidFill>
                <a:latin typeface="Inter SemiBold"/>
                <a:ea typeface="Inter SemiBold"/>
                <a:cs typeface="Inter SemiBold"/>
                <a:sym typeface="Inter SemiBold"/>
              </a:endParaRPr>
            </a:p>
            <a:p>
              <a:pPr indent="0" lvl="0" marL="0" rtl="0" algn="l">
                <a:spcBef>
                  <a:spcPts val="150"/>
                </a:spcBef>
                <a:spcAft>
                  <a:spcPts val="0"/>
                </a:spcAft>
                <a:buNone/>
              </a:pPr>
              <a:r>
                <a:rPr b="0" i="0" lang="en" sz="950" u="none" strike="noStrike">
                  <a:solidFill>
                    <a:srgbClr val="475569"/>
                  </a:solidFill>
                  <a:latin typeface="Inter"/>
                  <a:ea typeface="Inter"/>
                  <a:cs typeface="Inter"/>
                  <a:sym typeface="Inter"/>
                </a:rPr>
                <a:t>Credible upside, not the basis for initial approval.</a:t>
              </a:r>
              <a:endParaRPr b="0" i="0" sz="850" u="none" strike="noStrike">
                <a:solidFill>
                  <a:srgbClr val="D97706"/>
                </a:solidFill>
                <a:latin typeface="Inter SemiBold"/>
                <a:ea typeface="Inter SemiBold"/>
                <a:cs typeface="Inter SemiBold"/>
                <a:sym typeface="Inter SemiBold"/>
              </a:endParaRPr>
            </a:p>
          </p:txBody>
        </p:sp>
      </p:grpSp>
      <p:grpSp>
        <p:nvGrpSpPr>
          <p:cNvPr id="146" name="Google Shape;146;p18"/>
          <p:cNvGrpSpPr/>
          <p:nvPr/>
        </p:nvGrpSpPr>
        <p:grpSpPr>
          <a:xfrm>
            <a:off x="4753200" y="1419425"/>
            <a:ext cx="4000500" cy="3152725"/>
            <a:chOff x="4753200" y="1324175"/>
            <a:chExt cx="4000500" cy="3152725"/>
          </a:xfrm>
        </p:grpSpPr>
        <p:sp>
          <p:nvSpPr>
            <p:cNvPr id="147" name="Google Shape;147;p18"/>
            <p:cNvSpPr/>
            <p:nvPr/>
          </p:nvSpPr>
          <p:spPr>
            <a:xfrm>
              <a:off x="4753200" y="1324175"/>
              <a:ext cx="4000500" cy="3143400"/>
            </a:xfrm>
            <a:prstGeom prst="roundRect">
              <a:avLst>
                <a:gd fmla="val 2423" name="adj"/>
              </a:avLst>
            </a:prstGeom>
            <a:solidFill>
              <a:srgbClr val="F1F5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8" name="Google Shape;148;p18"/>
            <p:cNvSpPr/>
            <p:nvPr/>
          </p:nvSpPr>
          <p:spPr>
            <a:xfrm>
              <a:off x="4762500" y="1333500"/>
              <a:ext cx="38100" cy="31434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8"/>
            <p:cNvSpPr txBox="1"/>
            <p:nvPr/>
          </p:nvSpPr>
          <p:spPr>
            <a:xfrm>
              <a:off x="5000625" y="1524000"/>
              <a:ext cx="3524400" cy="571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i="0" lang="en" sz="850" u="none" strike="noStrike">
                  <a:solidFill>
                    <a:srgbClr val="2563EB"/>
                  </a:solidFill>
                  <a:latin typeface="Inter SemiBold"/>
                  <a:ea typeface="Inter SemiBold"/>
                  <a:cs typeface="Inter SemiBold"/>
                  <a:sym typeface="Inter SemiBold"/>
                </a:rPr>
                <a:t>PORTFOLIO IMPACT</a:t>
              </a:r>
              <a:endParaRPr b="0" i="0" sz="850" u="none" strike="noStrike">
                <a:solidFill>
                  <a:srgbClr val="2563EB"/>
                </a:solidFill>
                <a:latin typeface="Inter SemiBold"/>
                <a:ea typeface="Inter SemiBold"/>
                <a:cs typeface="Inter SemiBold"/>
                <a:sym typeface="Inter SemiBold"/>
              </a:endParaRPr>
            </a:p>
            <a:p>
              <a:pPr indent="0" lvl="0" marL="0" rtl="0" algn="l">
                <a:spcBef>
                  <a:spcPts val="300"/>
                </a:spcBef>
                <a:spcAft>
                  <a:spcPts val="0"/>
                </a:spcAft>
                <a:buNone/>
              </a:pPr>
              <a:r>
                <a:rPr b="1" i="0" lang="en" sz="1500" u="none" strike="noStrike">
                  <a:solidFill>
                    <a:srgbClr val="0F172A"/>
                  </a:solidFill>
                  <a:latin typeface="Inter"/>
                  <a:ea typeface="Inter"/>
                  <a:cs typeface="Inter"/>
                  <a:sym typeface="Inter"/>
                </a:rPr>
                <a:t>Broad Portfolio Savings</a:t>
              </a:r>
              <a:endParaRPr b="0" i="0" sz="850" u="none" strike="noStrike">
                <a:solidFill>
                  <a:srgbClr val="2563EB"/>
                </a:solidFill>
                <a:latin typeface="Inter SemiBold"/>
                <a:ea typeface="Inter SemiBold"/>
                <a:cs typeface="Inter SemiBold"/>
                <a:sym typeface="Inter SemiBold"/>
              </a:endParaRPr>
            </a:p>
          </p:txBody>
        </p:sp>
        <p:grpSp>
          <p:nvGrpSpPr>
            <p:cNvPr id="150" name="Google Shape;150;p18"/>
            <p:cNvGrpSpPr/>
            <p:nvPr/>
          </p:nvGrpSpPr>
          <p:grpSpPr>
            <a:xfrm>
              <a:off x="5034150" y="2552375"/>
              <a:ext cx="1619100" cy="1047900"/>
              <a:chOff x="33525" y="409250"/>
              <a:chExt cx="1619100" cy="1047900"/>
            </a:xfrm>
          </p:grpSpPr>
          <p:sp>
            <p:nvSpPr>
              <p:cNvPr id="151" name="Google Shape;151;p18"/>
              <p:cNvSpPr/>
              <p:nvPr/>
            </p:nvSpPr>
            <p:spPr>
              <a:xfrm>
                <a:off x="33525" y="409250"/>
                <a:ext cx="1619100" cy="1047900"/>
              </a:xfrm>
              <a:prstGeom prst="roundRect">
                <a:avLst>
                  <a:gd fmla="val 5453"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2" name="Google Shape;152;p18"/>
              <p:cNvSpPr txBox="1"/>
              <p:nvPr/>
            </p:nvSpPr>
            <p:spPr>
              <a:xfrm>
                <a:off x="166725" y="542600"/>
                <a:ext cx="1352700" cy="781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 sz="2600" u="none" strike="noStrike">
                    <a:solidFill>
                      <a:srgbClr val="2563EB"/>
                    </a:solidFill>
                    <a:latin typeface="Inter"/>
                    <a:ea typeface="Inter"/>
                    <a:cs typeface="Inter"/>
                    <a:sym typeface="Inter"/>
                  </a:rPr>
                  <a:t>38%</a:t>
                </a:r>
                <a:endParaRPr b="1" i="0" sz="2600" u="none" strike="noStrike">
                  <a:solidFill>
                    <a:srgbClr val="2563EB"/>
                  </a:solidFill>
                  <a:latin typeface="Inter"/>
                  <a:ea typeface="Inter"/>
                  <a:cs typeface="Inter"/>
                  <a:sym typeface="Inter"/>
                </a:endParaRPr>
              </a:p>
              <a:p>
                <a:pPr indent="0" lvl="0" marL="0" rtl="0" algn="l">
                  <a:spcBef>
                    <a:spcPts val="300"/>
                  </a:spcBef>
                  <a:spcAft>
                    <a:spcPts val="0"/>
                  </a:spcAft>
                  <a:buNone/>
                </a:pPr>
                <a:r>
                  <a:rPr b="0" i="0" lang="en" sz="950" u="none" strike="noStrike">
                    <a:solidFill>
                      <a:srgbClr val="475569"/>
                    </a:solidFill>
                    <a:latin typeface="Inter SemiBold"/>
                    <a:ea typeface="Inter SemiBold"/>
                    <a:cs typeface="Inter SemiBold"/>
                    <a:sym typeface="Inter SemiBold"/>
                  </a:rPr>
                  <a:t>Straightforward accounts segment</a:t>
                </a:r>
                <a:endParaRPr b="1" i="0" sz="950" u="none" strike="noStrike">
                  <a:solidFill>
                    <a:srgbClr val="2563EB"/>
                  </a:solidFill>
                  <a:latin typeface="Inter"/>
                  <a:ea typeface="Inter"/>
                  <a:cs typeface="Inter"/>
                  <a:sym typeface="Inter"/>
                </a:endParaRPr>
              </a:p>
            </p:txBody>
          </p:sp>
        </p:grpSp>
        <p:grpSp>
          <p:nvGrpSpPr>
            <p:cNvPr id="153" name="Google Shape;153;p18"/>
            <p:cNvGrpSpPr/>
            <p:nvPr/>
          </p:nvGrpSpPr>
          <p:grpSpPr>
            <a:xfrm>
              <a:off x="6753450" y="2552375"/>
              <a:ext cx="1762200" cy="1047900"/>
              <a:chOff x="-9300" y="409250"/>
              <a:chExt cx="1762200" cy="1047900"/>
            </a:xfrm>
          </p:grpSpPr>
          <p:sp>
            <p:nvSpPr>
              <p:cNvPr id="154" name="Google Shape;154;p18"/>
              <p:cNvSpPr/>
              <p:nvPr/>
            </p:nvSpPr>
            <p:spPr>
              <a:xfrm>
                <a:off x="-9300" y="409250"/>
                <a:ext cx="1762200" cy="1047900"/>
              </a:xfrm>
              <a:prstGeom prst="roundRect">
                <a:avLst>
                  <a:gd fmla="val 5453"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18"/>
              <p:cNvSpPr txBox="1"/>
              <p:nvPr/>
            </p:nvSpPr>
            <p:spPr>
              <a:xfrm>
                <a:off x="124050" y="542600"/>
                <a:ext cx="1495500" cy="781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 sz="2600" u="none" strike="noStrike">
                    <a:solidFill>
                      <a:srgbClr val="2563EB"/>
                    </a:solidFill>
                    <a:latin typeface="Inter"/>
                    <a:ea typeface="Inter"/>
                    <a:cs typeface="Inter"/>
                    <a:sym typeface="Inter"/>
                  </a:rPr>
                  <a:t>~25 min</a:t>
                </a:r>
                <a:endParaRPr b="1" i="0" sz="2600" u="none" strike="noStrike">
                  <a:solidFill>
                    <a:srgbClr val="2563EB"/>
                  </a:solidFill>
                  <a:latin typeface="Inter"/>
                  <a:ea typeface="Inter"/>
                  <a:cs typeface="Inter"/>
                  <a:sym typeface="Inter"/>
                </a:endParaRPr>
              </a:p>
              <a:p>
                <a:pPr indent="0" lvl="0" marL="0" rtl="0" algn="l">
                  <a:spcBef>
                    <a:spcPts val="300"/>
                  </a:spcBef>
                  <a:spcAft>
                    <a:spcPts val="0"/>
                  </a:spcAft>
                  <a:buNone/>
                </a:pPr>
                <a:r>
                  <a:rPr b="0" i="0" lang="en" sz="950" u="none" strike="noStrike">
                    <a:solidFill>
                      <a:srgbClr val="475569"/>
                    </a:solidFill>
                    <a:latin typeface="Inter SemiBold"/>
                    <a:ea typeface="Inter SemiBold"/>
                    <a:cs typeface="Inter SemiBold"/>
                    <a:sym typeface="Inter SemiBold"/>
                  </a:rPr>
                  <a:t>Blended savings across all cases</a:t>
                </a:r>
                <a:endParaRPr b="1" i="0" sz="950" u="none" strike="noStrike">
                  <a:solidFill>
                    <a:srgbClr val="2563EB"/>
                  </a:solidFill>
                  <a:latin typeface="Inter"/>
                  <a:ea typeface="Inter"/>
                  <a:cs typeface="Inter"/>
                  <a:sym typeface="Inter"/>
                </a:endParaRPr>
              </a:p>
            </p:txBody>
          </p:sp>
        </p:grpSp>
        <p:sp>
          <p:nvSpPr>
            <p:cNvPr id="156" name="Google Shape;156;p18"/>
            <p:cNvSpPr txBox="1"/>
            <p:nvPr/>
          </p:nvSpPr>
          <p:spPr>
            <a:xfrm>
              <a:off x="5000625" y="3381375"/>
              <a:ext cx="35244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b="0" i="0" sz="950" u="none" strike="noStrike">
                <a:solidFill>
                  <a:srgbClr val="475569"/>
                </a:solidFill>
                <a:latin typeface="Inter"/>
                <a:ea typeface="Inter"/>
                <a:cs typeface="Inter"/>
                <a:sym typeface="Inter"/>
              </a:endParaRPr>
            </a:p>
          </p:txBody>
        </p:sp>
      </p:grpSp>
      <p:sp>
        <p:nvSpPr>
          <p:cNvPr id="157" name="Google Shape;157;p18"/>
          <p:cNvSpPr txBox="1"/>
          <p:nvPr/>
        </p:nvSpPr>
        <p:spPr>
          <a:xfrm>
            <a:off x="339800" y="352201"/>
            <a:ext cx="8001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 sz="2400">
                <a:solidFill>
                  <a:srgbClr val="0F172A"/>
                </a:solidFill>
                <a:latin typeface="Inter"/>
                <a:ea typeface="Inter"/>
                <a:cs typeface="Inter"/>
                <a:sym typeface="Inter"/>
              </a:rPr>
              <a:t>Key figures</a:t>
            </a:r>
            <a:endParaRPr b="1" sz="2400">
              <a:solidFill>
                <a:srgbClr val="0F172A"/>
              </a:solidFill>
              <a:latin typeface="Inter"/>
              <a:ea typeface="Inter"/>
              <a:cs typeface="Inter"/>
              <a:sym typeface="Inter"/>
            </a:endParaRPr>
          </a:p>
          <a:p>
            <a:pPr indent="0" lvl="0" marL="0" rtl="0" algn="l">
              <a:spcBef>
                <a:spcPts val="450"/>
              </a:spcBef>
              <a:spcAft>
                <a:spcPts val="0"/>
              </a:spcAft>
              <a:buNone/>
            </a:pPr>
            <a:r>
              <a:rPr b="0" lang="en" sz="1150">
                <a:solidFill>
                  <a:srgbClr val="475569"/>
                </a:solidFill>
                <a:latin typeface="Inter Medium"/>
                <a:ea typeface="Inter Medium"/>
                <a:cs typeface="Inter Medium"/>
                <a:sym typeface="Inter Medium"/>
              </a:rPr>
              <a:t>Th</a:t>
            </a:r>
            <a:r>
              <a:rPr lang="en" sz="1150">
                <a:solidFill>
                  <a:srgbClr val="475569"/>
                </a:solidFill>
                <a:latin typeface="Inter Medium"/>
                <a:ea typeface="Inter Medium"/>
                <a:cs typeface="Inter Medium"/>
                <a:sym typeface="Inter Medium"/>
              </a:rPr>
              <a:t>ese are savings just from phase 1.</a:t>
            </a:r>
            <a:endParaRPr sz="1150">
              <a:solidFill>
                <a:srgbClr val="475569"/>
              </a:solidFill>
              <a:latin typeface="Inter Medium"/>
              <a:ea typeface="Inter Medium"/>
              <a:cs typeface="Inter Medium"/>
              <a:sym typeface="Inter Medium"/>
            </a:endParaRPr>
          </a:p>
          <a:p>
            <a:pPr indent="0" lvl="0" marL="0" rtl="0" algn="l">
              <a:spcBef>
                <a:spcPts val="0"/>
              </a:spcBef>
              <a:spcAft>
                <a:spcPts val="0"/>
              </a:spcAft>
              <a:buNone/>
            </a:pPr>
            <a:r>
              <a:rPr lang="en" sz="1150">
                <a:solidFill>
                  <a:srgbClr val="475569"/>
                </a:solidFill>
                <a:latin typeface="Inter Medium"/>
                <a:ea typeface="Inter Medium"/>
                <a:cs typeface="Inter Medium"/>
                <a:sym typeface="Inter Medium"/>
              </a:rPr>
              <a:t>OPP: Refers to automation opportunities</a:t>
            </a:r>
            <a:endParaRPr sz="1150">
              <a:solidFill>
                <a:srgbClr val="475569"/>
              </a:solidFill>
              <a:latin typeface="Inter Medium"/>
              <a:ea typeface="Inter Medium"/>
              <a:cs typeface="Inter Medium"/>
              <a:sym typeface="Inter Medium"/>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grpSp>
        <p:nvGrpSpPr>
          <p:cNvPr id="162" name="Google Shape;162;p19"/>
          <p:cNvGrpSpPr/>
          <p:nvPr/>
        </p:nvGrpSpPr>
        <p:grpSpPr>
          <a:xfrm>
            <a:off x="8610600" y="342900"/>
            <a:ext cx="228600" cy="228600"/>
            <a:chOff x="0" y="0"/>
            <a:chExt cx="228600" cy="228600"/>
          </a:xfrm>
        </p:grpSpPr>
        <p:sp>
          <p:nvSpPr>
            <p:cNvPr id="163" name="Google Shape;163;p19"/>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4" name="Google Shape;164;p19"/>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65" name="Google Shape;165;p19"/>
          <p:cNvSpPr txBox="1"/>
          <p:nvPr/>
        </p:nvSpPr>
        <p:spPr>
          <a:xfrm>
            <a:off x="381000" y="342900"/>
            <a:ext cx="8001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 sz="2400">
                <a:solidFill>
                  <a:srgbClr val="0F172A"/>
                </a:solidFill>
                <a:latin typeface="Inter"/>
                <a:ea typeface="Inter"/>
                <a:cs typeface="Inter"/>
                <a:sym typeface="Inter"/>
              </a:rPr>
              <a:t>System Boundary &amp; Scope Definition</a:t>
            </a:r>
            <a:endParaRPr b="1" sz="2400">
              <a:solidFill>
                <a:srgbClr val="0F172A"/>
              </a:solidFill>
              <a:latin typeface="Inter"/>
              <a:ea typeface="Inter"/>
              <a:cs typeface="Inter"/>
              <a:sym typeface="Inter"/>
            </a:endParaRPr>
          </a:p>
          <a:p>
            <a:pPr indent="0" lvl="0" marL="0" rtl="0" algn="l">
              <a:spcBef>
                <a:spcPts val="450"/>
              </a:spcBef>
              <a:spcAft>
                <a:spcPts val="0"/>
              </a:spcAft>
              <a:buNone/>
            </a:pPr>
            <a:r>
              <a:rPr b="0" lang="en" sz="1150">
                <a:solidFill>
                  <a:srgbClr val="475569"/>
                </a:solidFill>
                <a:latin typeface="Inter Medium"/>
                <a:ea typeface="Inter Medium"/>
                <a:cs typeface="Inter Medium"/>
                <a:sym typeface="Inter Medium"/>
              </a:rPr>
              <a:t>This is deliberately the smallest system that still delivers the two proven wins.</a:t>
            </a:r>
            <a:endParaRPr b="0" sz="1150">
              <a:solidFill>
                <a:srgbClr val="475569"/>
              </a:solidFill>
              <a:latin typeface="Inter Medium"/>
              <a:ea typeface="Inter Medium"/>
              <a:cs typeface="Inter Medium"/>
              <a:sym typeface="Inter Medium"/>
            </a:endParaRPr>
          </a:p>
        </p:txBody>
      </p:sp>
      <p:sp>
        <p:nvSpPr>
          <p:cNvPr id="166" name="Google Shape;166;p19"/>
          <p:cNvSpPr/>
          <p:nvPr/>
        </p:nvSpPr>
        <p:spPr>
          <a:xfrm>
            <a:off x="381000" y="1238250"/>
            <a:ext cx="8382000" cy="96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7" name="Google Shape;167;p19"/>
          <p:cNvGrpSpPr/>
          <p:nvPr/>
        </p:nvGrpSpPr>
        <p:grpSpPr>
          <a:xfrm>
            <a:off x="381000" y="1476375"/>
            <a:ext cx="4000500" cy="3048000"/>
            <a:chOff x="0" y="0"/>
            <a:chExt cx="4000500" cy="3048000"/>
          </a:xfrm>
        </p:grpSpPr>
        <p:sp>
          <p:nvSpPr>
            <p:cNvPr id="168" name="Google Shape;168;p19"/>
            <p:cNvSpPr/>
            <p:nvPr/>
          </p:nvSpPr>
          <p:spPr>
            <a:xfrm>
              <a:off x="0" y="0"/>
              <a:ext cx="4000500" cy="3048000"/>
            </a:xfrm>
            <a:prstGeom prst="roundRect">
              <a:avLst>
                <a:gd fmla="val 1875"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9" name="Google Shape;169;p19"/>
            <p:cNvSpPr/>
            <p:nvPr/>
          </p:nvSpPr>
          <p:spPr>
            <a:xfrm>
              <a:off x="0" y="0"/>
              <a:ext cx="4000500" cy="381000"/>
            </a:xfrm>
            <a:custGeom>
              <a:rect b="b" l="l" r="r" t="t"/>
              <a:pathLst>
                <a:path extrusionOk="0" h="120000" w="120000">
                  <a:moveTo>
                    <a:pt x="0" y="18000"/>
                  </a:moveTo>
                  <a:cubicBezTo>
                    <a:pt x="0" y="13226"/>
                    <a:pt x="181" y="8648"/>
                    <a:pt x="502" y="5272"/>
                  </a:cubicBezTo>
                  <a:cubicBezTo>
                    <a:pt x="824" y="1896"/>
                    <a:pt x="1260" y="0"/>
                    <a:pt x="1714" y="0"/>
                  </a:cubicBezTo>
                  <a:lnTo>
                    <a:pt x="118286" y="0"/>
                  </a:lnTo>
                  <a:cubicBezTo>
                    <a:pt x="119233" y="2"/>
                    <a:pt x="120000" y="8060"/>
                    <a:pt x="120000" y="18000"/>
                  </a:cubicBezTo>
                  <a:lnTo>
                    <a:pt x="120000" y="120000"/>
                  </a:lnTo>
                  <a:lnTo>
                    <a:pt x="0" y="120000"/>
                  </a:lnTo>
                  <a:close/>
                </a:path>
              </a:pathLst>
            </a:cu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9"/>
            <p:cNvSpPr txBox="1"/>
            <p:nvPr/>
          </p:nvSpPr>
          <p:spPr>
            <a:xfrm>
              <a:off x="190500" y="76200"/>
              <a:ext cx="3619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 sz="1150">
                  <a:solidFill>
                    <a:srgbClr val="FFFFFF"/>
                  </a:solidFill>
                  <a:latin typeface="Inter"/>
                  <a:ea typeface="Inter"/>
                  <a:cs typeface="Inter"/>
                  <a:sym typeface="Inter"/>
                </a:rPr>
                <a:t>In Scope — Core Deliverables</a:t>
              </a:r>
              <a:endParaRPr b="1" sz="1150">
                <a:solidFill>
                  <a:srgbClr val="FFFFFF"/>
                </a:solidFill>
                <a:latin typeface="Inter"/>
                <a:ea typeface="Inter"/>
                <a:cs typeface="Inter"/>
                <a:sym typeface="Inter"/>
              </a:endParaRPr>
            </a:p>
          </p:txBody>
        </p:sp>
        <p:sp>
          <p:nvSpPr>
            <p:cNvPr id="171" name="Google Shape;171;p19"/>
            <p:cNvSpPr txBox="1"/>
            <p:nvPr/>
          </p:nvSpPr>
          <p:spPr>
            <a:xfrm>
              <a:off x="228600" y="571500"/>
              <a:ext cx="3543300" cy="2286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Identity verification</a:t>
              </a:r>
              <a:endParaRPr sz="1150">
                <a:solidFill>
                  <a:srgbClr val="0F172A"/>
                </a:solidFill>
                <a:latin typeface="Inter"/>
                <a:ea typeface="Inter"/>
                <a:cs typeface="Inter"/>
                <a:sym typeface="Inter"/>
              </a:endParaRPr>
            </a:p>
            <a:p>
              <a:pPr indent="0" lvl="0" marL="0" rtl="0" algn="l">
                <a:spcBef>
                  <a:spcPts val="90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Account summary</a:t>
              </a:r>
              <a:endParaRPr sz="1150">
                <a:solidFill>
                  <a:srgbClr val="0F172A"/>
                </a:solidFill>
                <a:latin typeface="Inter"/>
                <a:ea typeface="Inter"/>
                <a:cs typeface="Inter"/>
                <a:sym typeface="Inter"/>
              </a:endParaRPr>
            </a:p>
            <a:p>
              <a:pPr indent="0" lvl="0" marL="0" rtl="0" algn="l">
                <a:spcBef>
                  <a:spcPts val="90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Unified profile (OPP-01)</a:t>
              </a:r>
              <a:endParaRPr sz="1150">
                <a:solidFill>
                  <a:srgbClr val="0F172A"/>
                </a:solidFill>
                <a:latin typeface="Inter"/>
                <a:ea typeface="Inter"/>
                <a:cs typeface="Inter"/>
                <a:sym typeface="Inter"/>
              </a:endParaRPr>
            </a:p>
            <a:p>
              <a:pPr indent="0" lvl="0" marL="0" rtl="0" algn="l">
                <a:spcBef>
                  <a:spcPts val="90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Logging activity (OPP-03)</a:t>
              </a:r>
              <a:endParaRPr sz="1150">
                <a:solidFill>
                  <a:srgbClr val="0F172A"/>
                </a:solidFill>
                <a:latin typeface="Inter"/>
                <a:ea typeface="Inter"/>
                <a:cs typeface="Inter"/>
                <a:sym typeface="Inter"/>
              </a:endParaRPr>
            </a:p>
            <a:p>
              <a:pPr indent="0" lvl="0" marL="0" rtl="0" algn="l">
                <a:spcBef>
                  <a:spcPts val="90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Promise-to-pay capture (OPP-05 first half)</a:t>
              </a:r>
              <a:endParaRPr sz="1150">
                <a:solidFill>
                  <a:srgbClr val="0F172A"/>
                </a:solidFill>
                <a:latin typeface="Inter"/>
                <a:ea typeface="Inter"/>
                <a:cs typeface="Inter"/>
                <a:sym typeface="Inter"/>
              </a:endParaRPr>
            </a:p>
            <a:p>
              <a:pPr indent="0" lvl="0" marL="0" rtl="0" algn="l">
                <a:spcBef>
                  <a:spcPts val="900"/>
                </a:spcBef>
                <a:spcAft>
                  <a:spcPts val="0"/>
                </a:spcAft>
                <a:buNone/>
              </a:pPr>
              <a:r>
                <a:rPr b="1" lang="en" sz="1150">
                  <a:solidFill>
                    <a:srgbClr val="059669"/>
                  </a:solidFill>
                  <a:latin typeface="Inter"/>
                  <a:ea typeface="Inter"/>
                  <a:cs typeface="Inter"/>
                  <a:sym typeface="Inter"/>
                </a:rPr>
                <a:t>✓</a:t>
              </a:r>
              <a:r>
                <a:rPr lang="en" sz="1150">
                  <a:solidFill>
                    <a:srgbClr val="0F172A"/>
                  </a:solidFill>
                  <a:latin typeface="Inter"/>
                  <a:ea typeface="Inter"/>
                  <a:cs typeface="Inter"/>
                  <a:sym typeface="Inter"/>
                </a:rPr>
                <a:t>Portal reporting</a:t>
              </a:r>
              <a:endParaRPr sz="1150">
                <a:solidFill>
                  <a:srgbClr val="0F172A"/>
                </a:solidFill>
                <a:latin typeface="Inter"/>
                <a:ea typeface="Inter"/>
                <a:cs typeface="Inter"/>
                <a:sym typeface="Inter"/>
              </a:endParaRPr>
            </a:p>
          </p:txBody>
        </p:sp>
      </p:grpSp>
      <p:grpSp>
        <p:nvGrpSpPr>
          <p:cNvPr id="172" name="Google Shape;172;p19"/>
          <p:cNvGrpSpPr/>
          <p:nvPr/>
        </p:nvGrpSpPr>
        <p:grpSpPr>
          <a:xfrm>
            <a:off x="4762500" y="1476375"/>
            <a:ext cx="4000500" cy="3048000"/>
            <a:chOff x="0" y="0"/>
            <a:chExt cx="4000500" cy="3048000"/>
          </a:xfrm>
        </p:grpSpPr>
        <p:sp>
          <p:nvSpPr>
            <p:cNvPr id="173" name="Google Shape;173;p19"/>
            <p:cNvSpPr/>
            <p:nvPr/>
          </p:nvSpPr>
          <p:spPr>
            <a:xfrm>
              <a:off x="0" y="0"/>
              <a:ext cx="4000500" cy="3048000"/>
            </a:xfrm>
            <a:prstGeom prst="roundRect">
              <a:avLst>
                <a:gd fmla="val 1875"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9"/>
            <p:cNvSpPr/>
            <p:nvPr/>
          </p:nvSpPr>
          <p:spPr>
            <a:xfrm>
              <a:off x="0" y="0"/>
              <a:ext cx="4000500" cy="381000"/>
            </a:xfrm>
            <a:custGeom>
              <a:rect b="b" l="l" r="r" t="t"/>
              <a:pathLst>
                <a:path extrusionOk="0" h="120000" w="120000">
                  <a:moveTo>
                    <a:pt x="0" y="18000"/>
                  </a:moveTo>
                  <a:cubicBezTo>
                    <a:pt x="0" y="13226"/>
                    <a:pt x="181" y="8648"/>
                    <a:pt x="502" y="5272"/>
                  </a:cubicBezTo>
                  <a:cubicBezTo>
                    <a:pt x="824" y="1896"/>
                    <a:pt x="1260" y="0"/>
                    <a:pt x="1714" y="0"/>
                  </a:cubicBezTo>
                  <a:lnTo>
                    <a:pt x="118286" y="0"/>
                  </a:lnTo>
                  <a:cubicBezTo>
                    <a:pt x="119233" y="2"/>
                    <a:pt x="120000" y="8060"/>
                    <a:pt x="120000" y="18000"/>
                  </a:cubicBezTo>
                  <a:lnTo>
                    <a:pt x="120000" y="120000"/>
                  </a:lnTo>
                  <a:lnTo>
                    <a:pt x="0" y="120000"/>
                  </a:lnTo>
                  <a:close/>
                </a:path>
              </a:pathLst>
            </a:cu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5" name="Google Shape;175;p19"/>
            <p:cNvSpPr txBox="1"/>
            <p:nvPr/>
          </p:nvSpPr>
          <p:spPr>
            <a:xfrm>
              <a:off x="190500" y="76200"/>
              <a:ext cx="3619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 sz="1150">
                  <a:solidFill>
                    <a:srgbClr val="FFFFFF"/>
                  </a:solidFill>
                  <a:latin typeface="Inter"/>
                  <a:ea typeface="Inter"/>
                  <a:cs typeface="Inter"/>
                  <a:sym typeface="Inter"/>
                </a:rPr>
                <a:t>Out of Scope — Future Phases</a:t>
              </a:r>
              <a:endParaRPr b="1" sz="1150">
                <a:solidFill>
                  <a:srgbClr val="FFFFFF"/>
                </a:solidFill>
                <a:latin typeface="Inter"/>
                <a:ea typeface="Inter"/>
                <a:cs typeface="Inter"/>
                <a:sym typeface="Inter"/>
              </a:endParaRPr>
            </a:p>
          </p:txBody>
        </p:sp>
        <p:sp>
          <p:nvSpPr>
            <p:cNvPr id="176" name="Google Shape;176;p19"/>
            <p:cNvSpPr txBox="1"/>
            <p:nvPr/>
          </p:nvSpPr>
          <p:spPr>
            <a:xfrm>
              <a:off x="228600" y="571500"/>
              <a:ext cx="3543300" cy="2286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 sz="1150">
                  <a:solidFill>
                    <a:srgbClr val="D97706"/>
                  </a:solidFill>
                  <a:latin typeface="Inter"/>
                  <a:ea typeface="Inter"/>
                  <a:cs typeface="Inter"/>
                  <a:sym typeface="Inter"/>
                </a:rPr>
                <a:t>✕</a:t>
              </a:r>
              <a:r>
                <a:rPr lang="en" sz="1150">
                  <a:solidFill>
                    <a:srgbClr val="475569"/>
                  </a:solidFill>
                  <a:latin typeface="Inter"/>
                  <a:ea typeface="Inter"/>
                  <a:cs typeface="Inter"/>
                  <a:sym typeface="Inter"/>
                </a:rPr>
                <a:t>Hardship / legal cases</a:t>
              </a:r>
              <a:endParaRPr sz="1150">
                <a:solidFill>
                  <a:srgbClr val="475569"/>
                </a:solidFill>
                <a:latin typeface="Inter"/>
                <a:ea typeface="Inter"/>
                <a:cs typeface="Inter"/>
                <a:sym typeface="Inter"/>
              </a:endParaRPr>
            </a:p>
            <a:p>
              <a:pPr indent="0" lvl="0" marL="0" rtl="0" algn="l">
                <a:spcBef>
                  <a:spcPts val="1050"/>
                </a:spcBef>
                <a:spcAft>
                  <a:spcPts val="0"/>
                </a:spcAft>
                <a:buNone/>
              </a:pPr>
              <a:r>
                <a:rPr b="1" lang="en" sz="1150">
                  <a:solidFill>
                    <a:srgbClr val="D97706"/>
                  </a:solidFill>
                  <a:latin typeface="Inter"/>
                  <a:ea typeface="Inter"/>
                  <a:cs typeface="Inter"/>
                  <a:sym typeface="Inter"/>
                </a:rPr>
                <a:t>✕</a:t>
              </a:r>
              <a:r>
                <a:rPr lang="en" sz="1150">
                  <a:solidFill>
                    <a:srgbClr val="475569"/>
                  </a:solidFill>
                  <a:latin typeface="Inter"/>
                  <a:ea typeface="Inter"/>
                  <a:cs typeface="Inter"/>
                  <a:sym typeface="Inter"/>
                </a:rPr>
                <a:t>Full payment-plan enrollment (OPP-04)</a:t>
              </a:r>
              <a:endParaRPr sz="1150">
                <a:solidFill>
                  <a:srgbClr val="475569"/>
                </a:solidFill>
                <a:latin typeface="Inter"/>
                <a:ea typeface="Inter"/>
                <a:cs typeface="Inter"/>
                <a:sym typeface="Inter"/>
              </a:endParaRPr>
            </a:p>
            <a:p>
              <a:pPr indent="0" lvl="0" marL="0" rtl="0" algn="l">
                <a:spcBef>
                  <a:spcPts val="1050"/>
                </a:spcBef>
                <a:spcAft>
                  <a:spcPts val="0"/>
                </a:spcAft>
                <a:buNone/>
              </a:pPr>
              <a:r>
                <a:rPr b="1" lang="en" sz="1150">
                  <a:solidFill>
                    <a:srgbClr val="D97706"/>
                  </a:solidFill>
                  <a:latin typeface="Inter"/>
                  <a:ea typeface="Inter"/>
                  <a:cs typeface="Inter"/>
                  <a:sym typeface="Inter"/>
                </a:rPr>
                <a:t>✕</a:t>
              </a:r>
              <a:r>
                <a:rPr lang="en" sz="1150">
                  <a:solidFill>
                    <a:srgbClr val="475569"/>
                  </a:solidFill>
                  <a:latin typeface="Inter"/>
                  <a:ea typeface="Inter"/>
                  <a:cs typeface="Inter"/>
                  <a:sym typeface="Inter"/>
                </a:rPr>
                <a:t>Auto-escalation (OPP-05 second half)</a:t>
              </a:r>
              <a:endParaRPr sz="1150">
                <a:solidFill>
                  <a:srgbClr val="475569"/>
                </a:solidFill>
                <a:latin typeface="Inter"/>
                <a:ea typeface="Inter"/>
                <a:cs typeface="Inter"/>
                <a:sym typeface="Inter"/>
              </a:endParaRPr>
            </a:p>
            <a:p>
              <a:pPr indent="0" lvl="0" marL="0" rtl="0" algn="l">
                <a:spcBef>
                  <a:spcPts val="1050"/>
                </a:spcBef>
                <a:spcAft>
                  <a:spcPts val="0"/>
                </a:spcAft>
                <a:buNone/>
              </a:pPr>
              <a:r>
                <a:rPr b="1" lang="en" sz="1150">
                  <a:solidFill>
                    <a:srgbClr val="D97706"/>
                  </a:solidFill>
                  <a:latin typeface="Inter"/>
                  <a:ea typeface="Inter"/>
                  <a:cs typeface="Inter"/>
                  <a:sym typeface="Inter"/>
                </a:rPr>
                <a:t>✕</a:t>
              </a:r>
              <a:r>
                <a:rPr lang="en" sz="1150">
                  <a:solidFill>
                    <a:srgbClr val="475569"/>
                  </a:solidFill>
                  <a:latin typeface="Inter"/>
                  <a:ea typeface="Inter"/>
                  <a:cs typeface="Inter"/>
                  <a:sym typeface="Inter"/>
                </a:rPr>
                <a:t>Proactive outreach (OPP-07)</a:t>
              </a:r>
              <a:endParaRPr sz="1150">
                <a:solidFill>
                  <a:srgbClr val="475569"/>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grpSp>
        <p:nvGrpSpPr>
          <p:cNvPr id="181" name="Google Shape;181;p20"/>
          <p:cNvGrpSpPr/>
          <p:nvPr/>
        </p:nvGrpSpPr>
        <p:grpSpPr>
          <a:xfrm>
            <a:off x="8591550" y="361950"/>
            <a:ext cx="171450" cy="171450"/>
            <a:chOff x="0" y="0"/>
            <a:chExt cx="171450" cy="171450"/>
          </a:xfrm>
        </p:grpSpPr>
        <p:sp>
          <p:nvSpPr>
            <p:cNvPr id="182" name="Google Shape;182;p20"/>
            <p:cNvSpPr/>
            <p:nvPr/>
          </p:nvSpPr>
          <p:spPr>
            <a:xfrm>
              <a:off x="0" y="0"/>
              <a:ext cx="114300" cy="1143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20"/>
            <p:cNvSpPr/>
            <p:nvPr/>
          </p:nvSpPr>
          <p:spPr>
            <a:xfrm>
              <a:off x="57150" y="57150"/>
              <a:ext cx="114300" cy="1143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84" name="Google Shape;184;p20"/>
          <p:cNvSpPr txBox="1"/>
          <p:nvPr/>
        </p:nvSpPr>
        <p:spPr>
          <a:xfrm>
            <a:off x="381000" y="342900"/>
            <a:ext cx="8001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 sz="2400" u="none" strike="noStrike">
                <a:solidFill>
                  <a:srgbClr val="0F172A"/>
                </a:solidFill>
                <a:latin typeface="Inter"/>
                <a:ea typeface="Inter"/>
                <a:cs typeface="Inter"/>
                <a:sym typeface="Inter"/>
              </a:rPr>
              <a:t>The adoption risks are known, and Phase 1's scope already mitigates the biggest ones.</a:t>
            </a:r>
            <a:endParaRPr b="1" i="0" sz="2400" u="none" strike="noStrike">
              <a:solidFill>
                <a:srgbClr val="0F172A"/>
              </a:solidFill>
              <a:latin typeface="Inter"/>
              <a:ea typeface="Inter"/>
              <a:cs typeface="Inter"/>
              <a:sym typeface="Inter"/>
            </a:endParaRPr>
          </a:p>
        </p:txBody>
      </p:sp>
      <p:sp>
        <p:nvSpPr>
          <p:cNvPr id="185" name="Google Shape;185;p20"/>
          <p:cNvSpPr/>
          <p:nvPr/>
        </p:nvSpPr>
        <p:spPr>
          <a:xfrm>
            <a:off x="381000" y="1238250"/>
            <a:ext cx="8382000" cy="96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86" name="Google Shape;186;p20"/>
          <p:cNvGrpSpPr/>
          <p:nvPr/>
        </p:nvGrpSpPr>
        <p:grpSpPr>
          <a:xfrm>
            <a:off x="381000" y="1381125"/>
            <a:ext cx="8382000" cy="762000"/>
            <a:chOff x="0" y="0"/>
            <a:chExt cx="8382000" cy="762000"/>
          </a:xfrm>
        </p:grpSpPr>
        <p:sp>
          <p:nvSpPr>
            <p:cNvPr id="187" name="Google Shape;187;p20"/>
            <p:cNvSpPr/>
            <p:nvPr/>
          </p:nvSpPr>
          <p:spPr>
            <a:xfrm>
              <a:off x="0" y="0"/>
              <a:ext cx="8382000" cy="762000"/>
            </a:xfrm>
            <a:prstGeom prst="roundRect">
              <a:avLst>
                <a:gd fmla="val 750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88" name="Google Shape;188;p20"/>
            <p:cNvGrpSpPr/>
            <p:nvPr/>
          </p:nvGrpSpPr>
          <p:grpSpPr>
            <a:xfrm>
              <a:off x="190500" y="266700"/>
              <a:ext cx="228600" cy="228600"/>
              <a:chOff x="0" y="0"/>
              <a:chExt cx="228600" cy="228600"/>
            </a:xfrm>
          </p:grpSpPr>
          <p:sp>
            <p:nvSpPr>
              <p:cNvPr id="189" name="Google Shape;189;p20"/>
              <p:cNvSpPr/>
              <p:nvPr/>
            </p:nvSpPr>
            <p:spPr>
              <a:xfrm>
                <a:off x="0" y="0"/>
                <a:ext cx="228600" cy="228600"/>
              </a:xfrm>
              <a:prstGeom prst="ellipse">
                <a:avLst/>
              </a:prstGeom>
              <a:solidFill>
                <a:srgbClr val="D97706">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0" name="Google Shape;190;p20"/>
              <p:cNvSpPr/>
              <p:nvPr/>
            </p:nvSpPr>
            <p:spPr>
              <a:xfrm>
                <a:off x="114300" y="66675"/>
                <a:ext cx="0" cy="95400"/>
              </a:xfrm>
              <a:custGeom>
                <a:rect b="b" l="l" r="r" t="t"/>
                <a:pathLst>
                  <a:path extrusionOk="0" h="120000" w="120000">
                    <a:moveTo>
                      <a:pt x="0" y="0"/>
                    </a:moveTo>
                    <a:lnTo>
                      <a:pt x="0" y="72000"/>
                    </a:lnTo>
                    <a:moveTo>
                      <a:pt x="0" y="120000"/>
                    </a:moveTo>
                    <a:lnTo>
                      <a:pt x="120000" y="120000"/>
                    </a:lnTo>
                  </a:path>
                </a:pathLst>
              </a:custGeom>
              <a:solidFill>
                <a:srgbClr val="000000"/>
              </a:solidFill>
              <a:ln cap="rnd" cmpd="sng" w="19050">
                <a:solidFill>
                  <a:srgbClr val="D9770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91" name="Google Shape;191;p20"/>
            <p:cNvSpPr txBox="1"/>
            <p:nvPr/>
          </p:nvSpPr>
          <p:spPr>
            <a:xfrm>
              <a:off x="533400" y="142875"/>
              <a:ext cx="3619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D97706"/>
                  </a:solidFill>
                  <a:latin typeface="Inter SemiBold"/>
                  <a:ea typeface="Inter SemiBold"/>
                  <a:cs typeface="Inter SemiBold"/>
                  <a:sym typeface="Inter SemiBold"/>
                </a:rPr>
                <a:t>RISK TYPE</a:t>
              </a:r>
              <a:endParaRPr b="0" i="0" sz="800" u="none" strike="noStrike">
                <a:solidFill>
                  <a:srgbClr val="D97706"/>
                </a:solidFill>
                <a:latin typeface="Inter SemiBold"/>
                <a:ea typeface="Inter SemiBold"/>
                <a:cs typeface="Inter SemiBold"/>
                <a:sym typeface="Inter SemiBold"/>
              </a:endParaRPr>
            </a:p>
            <a:p>
              <a:pPr indent="0" lvl="0" marL="0" rtl="0" algn="l">
                <a:spcBef>
                  <a:spcPts val="150"/>
                </a:spcBef>
                <a:spcAft>
                  <a:spcPts val="150"/>
                </a:spcAft>
                <a:buNone/>
              </a:pPr>
              <a:r>
                <a:rPr b="1" i="0" lang="en" sz="1100" u="none" strike="noStrike">
                  <a:solidFill>
                    <a:srgbClr val="0F172A"/>
                  </a:solidFill>
                  <a:latin typeface="Inter"/>
                  <a:ea typeface="Inter"/>
                  <a:cs typeface="Inter"/>
                  <a:sym typeface="Inter"/>
                </a:rPr>
                <a:t>Agent Trust</a:t>
              </a:r>
              <a:endParaRPr b="0" i="0" sz="800" u="none" strike="noStrike">
                <a:solidFill>
                  <a:srgbClr val="D97706"/>
                </a:solidFill>
                <a:latin typeface="Inter SemiBold"/>
                <a:ea typeface="Inter SemiBold"/>
                <a:cs typeface="Inter SemiBold"/>
                <a:sym typeface="Inter SemiBold"/>
              </a:endParaRPr>
            </a:p>
          </p:txBody>
        </p:sp>
        <p:sp>
          <p:nvSpPr>
            <p:cNvPr id="192" name="Google Shape;192;p20"/>
            <p:cNvSpPr/>
            <p:nvPr/>
          </p:nvSpPr>
          <p:spPr>
            <a:xfrm>
              <a:off x="4333875" y="142875"/>
              <a:ext cx="9600" cy="4764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93" name="Google Shape;193;p20"/>
            <p:cNvGrpSpPr/>
            <p:nvPr/>
          </p:nvGrpSpPr>
          <p:grpSpPr>
            <a:xfrm>
              <a:off x="4524375" y="266700"/>
              <a:ext cx="228600" cy="228600"/>
              <a:chOff x="0" y="0"/>
              <a:chExt cx="228600" cy="228600"/>
            </a:xfrm>
          </p:grpSpPr>
          <p:sp>
            <p:nvSpPr>
              <p:cNvPr id="194" name="Google Shape;194;p20"/>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5" name="Google Shape;195;p20"/>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96" name="Google Shape;196;p20"/>
            <p:cNvSpPr txBox="1"/>
            <p:nvPr/>
          </p:nvSpPr>
          <p:spPr>
            <a:xfrm>
              <a:off x="4905375" y="114300"/>
              <a:ext cx="3286200" cy="533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059669"/>
                  </a:solidFill>
                  <a:latin typeface="Inter SemiBold"/>
                  <a:ea typeface="Inter SemiBold"/>
                  <a:cs typeface="Inter SemiBold"/>
                  <a:sym typeface="Inter SemiBold"/>
                </a:rPr>
                <a:t>PHASE 1 MITIGATION</a:t>
              </a:r>
              <a:endParaRPr b="0" i="0" sz="800" u="none" strike="noStrike">
                <a:solidFill>
                  <a:srgbClr val="059669"/>
                </a:solidFill>
                <a:latin typeface="Inter SemiBold"/>
                <a:ea typeface="Inter SemiBold"/>
                <a:cs typeface="Inter SemiBold"/>
                <a:sym typeface="Inter SemiBold"/>
              </a:endParaRPr>
            </a:p>
            <a:p>
              <a:pPr indent="0" lvl="0" marL="0" rtl="0" algn="l">
                <a:spcBef>
                  <a:spcPts val="150"/>
                </a:spcBef>
                <a:spcAft>
                  <a:spcPts val="150"/>
                </a:spcAft>
                <a:buNone/>
              </a:pPr>
              <a:r>
                <a:rPr b="0" i="0" lang="en" sz="1100" u="none" strike="noStrike">
                  <a:solidFill>
                    <a:srgbClr val="334155"/>
                  </a:solidFill>
                  <a:latin typeface="Inter"/>
                  <a:ea typeface="Inter"/>
                  <a:cs typeface="Inter"/>
                  <a:sym typeface="Inter"/>
                </a:rPr>
                <a:t>Solved via eligibility gateway and full-context handoffs.</a:t>
              </a:r>
              <a:endParaRPr b="0" i="0" sz="800" u="none" strike="noStrike">
                <a:solidFill>
                  <a:srgbClr val="059669"/>
                </a:solidFill>
                <a:latin typeface="Inter SemiBold"/>
                <a:ea typeface="Inter SemiBold"/>
                <a:cs typeface="Inter SemiBold"/>
                <a:sym typeface="Inter SemiBold"/>
              </a:endParaRPr>
            </a:p>
          </p:txBody>
        </p:sp>
      </p:grpSp>
      <p:grpSp>
        <p:nvGrpSpPr>
          <p:cNvPr id="197" name="Google Shape;197;p20"/>
          <p:cNvGrpSpPr/>
          <p:nvPr/>
        </p:nvGrpSpPr>
        <p:grpSpPr>
          <a:xfrm>
            <a:off x="381000" y="2257425"/>
            <a:ext cx="8382000" cy="762000"/>
            <a:chOff x="0" y="0"/>
            <a:chExt cx="8382000" cy="762000"/>
          </a:xfrm>
        </p:grpSpPr>
        <p:sp>
          <p:nvSpPr>
            <p:cNvPr id="198" name="Google Shape;198;p20"/>
            <p:cNvSpPr/>
            <p:nvPr/>
          </p:nvSpPr>
          <p:spPr>
            <a:xfrm>
              <a:off x="0" y="0"/>
              <a:ext cx="8382000" cy="762000"/>
            </a:xfrm>
            <a:prstGeom prst="roundRect">
              <a:avLst>
                <a:gd fmla="val 750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99" name="Google Shape;199;p20"/>
            <p:cNvGrpSpPr/>
            <p:nvPr/>
          </p:nvGrpSpPr>
          <p:grpSpPr>
            <a:xfrm>
              <a:off x="190500" y="266700"/>
              <a:ext cx="228600" cy="228600"/>
              <a:chOff x="0" y="0"/>
              <a:chExt cx="228600" cy="228600"/>
            </a:xfrm>
          </p:grpSpPr>
          <p:sp>
            <p:nvSpPr>
              <p:cNvPr id="200" name="Google Shape;200;p20"/>
              <p:cNvSpPr/>
              <p:nvPr/>
            </p:nvSpPr>
            <p:spPr>
              <a:xfrm>
                <a:off x="0" y="0"/>
                <a:ext cx="228600" cy="228600"/>
              </a:xfrm>
              <a:prstGeom prst="ellipse">
                <a:avLst/>
              </a:prstGeom>
              <a:solidFill>
                <a:srgbClr val="D97706">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1" name="Google Shape;201;p20"/>
              <p:cNvSpPr/>
              <p:nvPr/>
            </p:nvSpPr>
            <p:spPr>
              <a:xfrm>
                <a:off x="114300" y="66675"/>
                <a:ext cx="0" cy="95400"/>
              </a:xfrm>
              <a:custGeom>
                <a:rect b="b" l="l" r="r" t="t"/>
                <a:pathLst>
                  <a:path extrusionOk="0" h="120000" w="120000">
                    <a:moveTo>
                      <a:pt x="0" y="0"/>
                    </a:moveTo>
                    <a:lnTo>
                      <a:pt x="0" y="72000"/>
                    </a:lnTo>
                    <a:moveTo>
                      <a:pt x="0" y="120000"/>
                    </a:moveTo>
                    <a:lnTo>
                      <a:pt x="120000" y="120000"/>
                    </a:lnTo>
                  </a:path>
                </a:pathLst>
              </a:custGeom>
              <a:solidFill>
                <a:srgbClr val="000000"/>
              </a:solidFill>
              <a:ln cap="rnd" cmpd="sng" w="19050">
                <a:solidFill>
                  <a:srgbClr val="D9770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02" name="Google Shape;202;p20"/>
            <p:cNvSpPr txBox="1"/>
            <p:nvPr/>
          </p:nvSpPr>
          <p:spPr>
            <a:xfrm>
              <a:off x="533400" y="142875"/>
              <a:ext cx="3619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D97706"/>
                  </a:solidFill>
                  <a:latin typeface="Inter SemiBold"/>
                  <a:ea typeface="Inter SemiBold"/>
                  <a:cs typeface="Inter SemiBold"/>
                  <a:sym typeface="Inter SemiBold"/>
                </a:rPr>
                <a:t>RISK TYPE</a:t>
              </a:r>
              <a:endParaRPr b="0" i="0" sz="800" u="none" strike="noStrike">
                <a:solidFill>
                  <a:srgbClr val="D97706"/>
                </a:solidFill>
                <a:latin typeface="Inter SemiBold"/>
                <a:ea typeface="Inter SemiBold"/>
                <a:cs typeface="Inter SemiBold"/>
                <a:sym typeface="Inter SemiBold"/>
              </a:endParaRPr>
            </a:p>
            <a:p>
              <a:pPr indent="0" lvl="0" marL="0" rtl="0" algn="l">
                <a:spcBef>
                  <a:spcPts val="150"/>
                </a:spcBef>
                <a:spcAft>
                  <a:spcPts val="150"/>
                </a:spcAft>
                <a:buNone/>
              </a:pPr>
              <a:r>
                <a:rPr b="1" i="0" lang="en" sz="1100" u="none" strike="noStrike">
                  <a:solidFill>
                    <a:srgbClr val="0F172A"/>
                  </a:solidFill>
                  <a:latin typeface="Inter"/>
                  <a:ea typeface="Inter"/>
                  <a:cs typeface="Inter"/>
                  <a:sym typeface="Inter"/>
                </a:rPr>
                <a:t>Compliance</a:t>
              </a:r>
              <a:endParaRPr b="0" i="0" sz="800" u="none" strike="noStrike">
                <a:solidFill>
                  <a:srgbClr val="D97706"/>
                </a:solidFill>
                <a:latin typeface="Inter SemiBold"/>
                <a:ea typeface="Inter SemiBold"/>
                <a:cs typeface="Inter SemiBold"/>
                <a:sym typeface="Inter SemiBold"/>
              </a:endParaRPr>
            </a:p>
          </p:txBody>
        </p:sp>
        <p:sp>
          <p:nvSpPr>
            <p:cNvPr id="203" name="Google Shape;203;p20"/>
            <p:cNvSpPr/>
            <p:nvPr/>
          </p:nvSpPr>
          <p:spPr>
            <a:xfrm>
              <a:off x="4333875" y="142875"/>
              <a:ext cx="9600" cy="4764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04" name="Google Shape;204;p20"/>
            <p:cNvGrpSpPr/>
            <p:nvPr/>
          </p:nvGrpSpPr>
          <p:grpSpPr>
            <a:xfrm>
              <a:off x="4524375" y="266700"/>
              <a:ext cx="228600" cy="228600"/>
              <a:chOff x="0" y="0"/>
              <a:chExt cx="228600" cy="228600"/>
            </a:xfrm>
          </p:grpSpPr>
          <p:sp>
            <p:nvSpPr>
              <p:cNvPr id="205" name="Google Shape;205;p20"/>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6" name="Google Shape;206;p20"/>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07" name="Google Shape;207;p20"/>
            <p:cNvSpPr txBox="1"/>
            <p:nvPr/>
          </p:nvSpPr>
          <p:spPr>
            <a:xfrm>
              <a:off x="4905375" y="114300"/>
              <a:ext cx="3286200" cy="533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059669"/>
                  </a:solidFill>
                  <a:latin typeface="Inter SemiBold"/>
                  <a:ea typeface="Inter SemiBold"/>
                  <a:cs typeface="Inter SemiBold"/>
                  <a:sym typeface="Inter SemiBold"/>
                </a:rPr>
                <a:t>PHASE 1 MITIGATION</a:t>
              </a:r>
              <a:endParaRPr b="0" i="0" sz="800" u="none" strike="noStrike">
                <a:solidFill>
                  <a:srgbClr val="059669"/>
                </a:solidFill>
                <a:latin typeface="Inter SemiBold"/>
                <a:ea typeface="Inter SemiBold"/>
                <a:cs typeface="Inter SemiBold"/>
                <a:sym typeface="Inter SemiBold"/>
              </a:endParaRPr>
            </a:p>
            <a:p>
              <a:pPr indent="0" lvl="0" marL="0" rtl="0" algn="l">
                <a:spcBef>
                  <a:spcPts val="150"/>
                </a:spcBef>
                <a:spcAft>
                  <a:spcPts val="150"/>
                </a:spcAft>
                <a:buNone/>
              </a:pPr>
              <a:r>
                <a:rPr b="0" i="0" lang="en" sz="1100" u="none" strike="noStrike">
                  <a:solidFill>
                    <a:srgbClr val="334155"/>
                  </a:solidFill>
                  <a:latin typeface="Inter"/>
                  <a:ea typeface="Inter"/>
                  <a:cs typeface="Inter"/>
                  <a:sym typeface="Inter"/>
                </a:rPr>
                <a:t>SMS/email verification scope requires rapid sign-off (no existing IAM).</a:t>
              </a:r>
              <a:endParaRPr b="0" i="0" sz="800" u="none" strike="noStrike">
                <a:solidFill>
                  <a:srgbClr val="059669"/>
                </a:solidFill>
                <a:latin typeface="Inter SemiBold"/>
                <a:ea typeface="Inter SemiBold"/>
                <a:cs typeface="Inter SemiBold"/>
                <a:sym typeface="Inter SemiBold"/>
              </a:endParaRPr>
            </a:p>
          </p:txBody>
        </p:sp>
      </p:grpSp>
      <p:grpSp>
        <p:nvGrpSpPr>
          <p:cNvPr id="208" name="Google Shape;208;p20"/>
          <p:cNvGrpSpPr/>
          <p:nvPr/>
        </p:nvGrpSpPr>
        <p:grpSpPr>
          <a:xfrm>
            <a:off x="381000" y="3133725"/>
            <a:ext cx="8382000" cy="762000"/>
            <a:chOff x="0" y="0"/>
            <a:chExt cx="8382000" cy="762000"/>
          </a:xfrm>
        </p:grpSpPr>
        <p:sp>
          <p:nvSpPr>
            <p:cNvPr id="209" name="Google Shape;209;p20"/>
            <p:cNvSpPr/>
            <p:nvPr/>
          </p:nvSpPr>
          <p:spPr>
            <a:xfrm>
              <a:off x="0" y="0"/>
              <a:ext cx="8382000" cy="762000"/>
            </a:xfrm>
            <a:prstGeom prst="roundRect">
              <a:avLst>
                <a:gd fmla="val 750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10" name="Google Shape;210;p20"/>
            <p:cNvGrpSpPr/>
            <p:nvPr/>
          </p:nvGrpSpPr>
          <p:grpSpPr>
            <a:xfrm>
              <a:off x="190500" y="266700"/>
              <a:ext cx="228600" cy="228600"/>
              <a:chOff x="0" y="0"/>
              <a:chExt cx="228600" cy="228600"/>
            </a:xfrm>
          </p:grpSpPr>
          <p:sp>
            <p:nvSpPr>
              <p:cNvPr id="211" name="Google Shape;211;p20"/>
              <p:cNvSpPr/>
              <p:nvPr/>
            </p:nvSpPr>
            <p:spPr>
              <a:xfrm>
                <a:off x="0" y="0"/>
                <a:ext cx="228600" cy="228600"/>
              </a:xfrm>
              <a:prstGeom prst="ellipse">
                <a:avLst/>
              </a:prstGeom>
              <a:solidFill>
                <a:srgbClr val="D97706">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2" name="Google Shape;212;p20"/>
              <p:cNvSpPr/>
              <p:nvPr/>
            </p:nvSpPr>
            <p:spPr>
              <a:xfrm>
                <a:off x="114300" y="66675"/>
                <a:ext cx="0" cy="95400"/>
              </a:xfrm>
              <a:custGeom>
                <a:rect b="b" l="l" r="r" t="t"/>
                <a:pathLst>
                  <a:path extrusionOk="0" h="120000" w="120000">
                    <a:moveTo>
                      <a:pt x="0" y="0"/>
                    </a:moveTo>
                    <a:lnTo>
                      <a:pt x="0" y="72000"/>
                    </a:lnTo>
                    <a:moveTo>
                      <a:pt x="0" y="120000"/>
                    </a:moveTo>
                    <a:lnTo>
                      <a:pt x="120000" y="120000"/>
                    </a:lnTo>
                  </a:path>
                </a:pathLst>
              </a:custGeom>
              <a:solidFill>
                <a:srgbClr val="000000"/>
              </a:solidFill>
              <a:ln cap="rnd" cmpd="sng" w="19050">
                <a:solidFill>
                  <a:srgbClr val="D9770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13" name="Google Shape;213;p20"/>
            <p:cNvSpPr txBox="1"/>
            <p:nvPr/>
          </p:nvSpPr>
          <p:spPr>
            <a:xfrm>
              <a:off x="533400" y="142875"/>
              <a:ext cx="3619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D97706"/>
                  </a:solidFill>
                  <a:latin typeface="Inter SemiBold"/>
                  <a:ea typeface="Inter SemiBold"/>
                  <a:cs typeface="Inter SemiBold"/>
                  <a:sym typeface="Inter SemiBold"/>
                </a:rPr>
                <a:t>RISK TYPE</a:t>
              </a:r>
              <a:endParaRPr b="0" i="0" sz="800" u="none" strike="noStrike">
                <a:solidFill>
                  <a:srgbClr val="D97706"/>
                </a:solidFill>
                <a:latin typeface="Inter SemiBold"/>
                <a:ea typeface="Inter SemiBold"/>
                <a:cs typeface="Inter SemiBold"/>
                <a:sym typeface="Inter SemiBold"/>
              </a:endParaRPr>
            </a:p>
            <a:p>
              <a:pPr indent="0" lvl="0" marL="0" rtl="0" algn="l">
                <a:spcBef>
                  <a:spcPts val="150"/>
                </a:spcBef>
                <a:spcAft>
                  <a:spcPts val="150"/>
                </a:spcAft>
                <a:buNone/>
              </a:pPr>
              <a:r>
                <a:rPr b="1" i="0" lang="en" sz="1100" u="none" strike="noStrike">
                  <a:solidFill>
                    <a:srgbClr val="0F172A"/>
                  </a:solidFill>
                  <a:latin typeface="Inter"/>
                  <a:ea typeface="Inter"/>
                  <a:cs typeface="Inter"/>
                  <a:sym typeface="Inter"/>
                </a:rPr>
                <a:t>Ops Visibility</a:t>
              </a:r>
              <a:endParaRPr b="0" i="0" sz="800" u="none" strike="noStrike">
                <a:solidFill>
                  <a:srgbClr val="D97706"/>
                </a:solidFill>
                <a:latin typeface="Inter SemiBold"/>
                <a:ea typeface="Inter SemiBold"/>
                <a:cs typeface="Inter SemiBold"/>
                <a:sym typeface="Inter SemiBold"/>
              </a:endParaRPr>
            </a:p>
          </p:txBody>
        </p:sp>
        <p:sp>
          <p:nvSpPr>
            <p:cNvPr id="214" name="Google Shape;214;p20"/>
            <p:cNvSpPr/>
            <p:nvPr/>
          </p:nvSpPr>
          <p:spPr>
            <a:xfrm>
              <a:off x="4333875" y="142875"/>
              <a:ext cx="9600" cy="4764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15" name="Google Shape;215;p20"/>
            <p:cNvGrpSpPr/>
            <p:nvPr/>
          </p:nvGrpSpPr>
          <p:grpSpPr>
            <a:xfrm>
              <a:off x="4524375" y="266700"/>
              <a:ext cx="228600" cy="228600"/>
              <a:chOff x="0" y="0"/>
              <a:chExt cx="228600" cy="228600"/>
            </a:xfrm>
          </p:grpSpPr>
          <p:sp>
            <p:nvSpPr>
              <p:cNvPr id="216" name="Google Shape;216;p20"/>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7" name="Google Shape;217;p20"/>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18" name="Google Shape;218;p20"/>
            <p:cNvSpPr txBox="1"/>
            <p:nvPr/>
          </p:nvSpPr>
          <p:spPr>
            <a:xfrm>
              <a:off x="4905375" y="114300"/>
              <a:ext cx="3286200" cy="533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059669"/>
                  </a:solidFill>
                  <a:latin typeface="Inter SemiBold"/>
                  <a:ea typeface="Inter SemiBold"/>
                  <a:cs typeface="Inter SemiBold"/>
                  <a:sym typeface="Inter SemiBold"/>
                </a:rPr>
                <a:t>PHASE 1 MITIGATION</a:t>
              </a:r>
              <a:endParaRPr b="0" i="0" sz="800" u="none" strike="noStrike">
                <a:solidFill>
                  <a:srgbClr val="059669"/>
                </a:solidFill>
                <a:latin typeface="Inter SemiBold"/>
                <a:ea typeface="Inter SemiBold"/>
                <a:cs typeface="Inter SemiBold"/>
                <a:sym typeface="Inter SemiBold"/>
              </a:endParaRPr>
            </a:p>
            <a:p>
              <a:pPr indent="0" lvl="0" marL="0" rtl="0" algn="l">
                <a:spcBef>
                  <a:spcPts val="150"/>
                </a:spcBef>
                <a:spcAft>
                  <a:spcPts val="150"/>
                </a:spcAft>
                <a:buNone/>
              </a:pPr>
              <a:r>
                <a:rPr b="0" i="0" lang="en" sz="1100" u="none" strike="noStrike">
                  <a:solidFill>
                    <a:srgbClr val="334155"/>
                  </a:solidFill>
                  <a:latin typeface="Inter"/>
                  <a:ea typeface="Inter"/>
                  <a:cs typeface="Inter"/>
                  <a:sym typeface="Inter"/>
                </a:rPr>
                <a:t>Real-time shared dashboards replace manual reconciliation.</a:t>
              </a:r>
              <a:endParaRPr b="0" i="0" sz="800" u="none" strike="noStrike">
                <a:solidFill>
                  <a:srgbClr val="059669"/>
                </a:solidFill>
                <a:latin typeface="Inter SemiBold"/>
                <a:ea typeface="Inter SemiBold"/>
                <a:cs typeface="Inter SemiBold"/>
                <a:sym typeface="Inter SemiBold"/>
              </a:endParaRPr>
            </a:p>
          </p:txBody>
        </p:sp>
      </p:grpSp>
      <p:grpSp>
        <p:nvGrpSpPr>
          <p:cNvPr id="219" name="Google Shape;219;p20"/>
          <p:cNvGrpSpPr/>
          <p:nvPr/>
        </p:nvGrpSpPr>
        <p:grpSpPr>
          <a:xfrm>
            <a:off x="381000" y="4010025"/>
            <a:ext cx="8382000" cy="762000"/>
            <a:chOff x="0" y="0"/>
            <a:chExt cx="8382000" cy="762000"/>
          </a:xfrm>
        </p:grpSpPr>
        <p:sp>
          <p:nvSpPr>
            <p:cNvPr id="220" name="Google Shape;220;p20"/>
            <p:cNvSpPr/>
            <p:nvPr/>
          </p:nvSpPr>
          <p:spPr>
            <a:xfrm>
              <a:off x="0" y="0"/>
              <a:ext cx="8382000" cy="762000"/>
            </a:xfrm>
            <a:prstGeom prst="roundRect">
              <a:avLst>
                <a:gd fmla="val 750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21" name="Google Shape;221;p20"/>
            <p:cNvGrpSpPr/>
            <p:nvPr/>
          </p:nvGrpSpPr>
          <p:grpSpPr>
            <a:xfrm>
              <a:off x="190500" y="266700"/>
              <a:ext cx="228600" cy="228600"/>
              <a:chOff x="0" y="0"/>
              <a:chExt cx="228600" cy="228600"/>
            </a:xfrm>
          </p:grpSpPr>
          <p:sp>
            <p:nvSpPr>
              <p:cNvPr id="222" name="Google Shape;222;p20"/>
              <p:cNvSpPr/>
              <p:nvPr/>
            </p:nvSpPr>
            <p:spPr>
              <a:xfrm>
                <a:off x="0" y="0"/>
                <a:ext cx="228600" cy="228600"/>
              </a:xfrm>
              <a:prstGeom prst="ellipse">
                <a:avLst/>
              </a:prstGeom>
              <a:solidFill>
                <a:srgbClr val="D97706">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3" name="Google Shape;223;p20"/>
              <p:cNvSpPr/>
              <p:nvPr/>
            </p:nvSpPr>
            <p:spPr>
              <a:xfrm>
                <a:off x="114300" y="66675"/>
                <a:ext cx="0" cy="95400"/>
              </a:xfrm>
              <a:custGeom>
                <a:rect b="b" l="l" r="r" t="t"/>
                <a:pathLst>
                  <a:path extrusionOk="0" h="120000" w="120000">
                    <a:moveTo>
                      <a:pt x="0" y="0"/>
                    </a:moveTo>
                    <a:lnTo>
                      <a:pt x="0" y="72000"/>
                    </a:lnTo>
                    <a:moveTo>
                      <a:pt x="0" y="120000"/>
                    </a:moveTo>
                    <a:lnTo>
                      <a:pt x="120000" y="120000"/>
                    </a:lnTo>
                  </a:path>
                </a:pathLst>
              </a:custGeom>
              <a:solidFill>
                <a:srgbClr val="000000"/>
              </a:solidFill>
              <a:ln cap="rnd" cmpd="sng" w="19050">
                <a:solidFill>
                  <a:srgbClr val="D9770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24" name="Google Shape;224;p20"/>
            <p:cNvSpPr txBox="1"/>
            <p:nvPr/>
          </p:nvSpPr>
          <p:spPr>
            <a:xfrm>
              <a:off x="533400" y="142875"/>
              <a:ext cx="3619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D97706"/>
                  </a:solidFill>
                  <a:latin typeface="Inter SemiBold"/>
                  <a:ea typeface="Inter SemiBold"/>
                  <a:cs typeface="Inter SemiBold"/>
                  <a:sym typeface="Inter SemiBold"/>
                </a:rPr>
                <a:t>RISK TYPE</a:t>
              </a:r>
              <a:endParaRPr b="0" i="0" sz="800" u="none" strike="noStrike">
                <a:solidFill>
                  <a:srgbClr val="D97706"/>
                </a:solidFill>
                <a:latin typeface="Inter SemiBold"/>
                <a:ea typeface="Inter SemiBold"/>
                <a:cs typeface="Inter SemiBold"/>
                <a:sym typeface="Inter SemiBold"/>
              </a:endParaRPr>
            </a:p>
            <a:p>
              <a:pPr indent="0" lvl="0" marL="0" rtl="0" algn="l">
                <a:spcBef>
                  <a:spcPts val="150"/>
                </a:spcBef>
                <a:spcAft>
                  <a:spcPts val="150"/>
                </a:spcAft>
                <a:buNone/>
              </a:pPr>
              <a:r>
                <a:rPr b="1" i="0" lang="en" sz="1100" u="none" strike="noStrike">
                  <a:solidFill>
                    <a:srgbClr val="0F172A"/>
                  </a:solidFill>
                  <a:latin typeface="Inter"/>
                  <a:ea typeface="Inter"/>
                  <a:cs typeface="Inter"/>
                  <a:sym typeface="Inter"/>
                </a:rPr>
                <a:t>Data Completeness</a:t>
              </a:r>
              <a:endParaRPr b="0" i="0" sz="800" u="none" strike="noStrike">
                <a:solidFill>
                  <a:srgbClr val="D97706"/>
                </a:solidFill>
                <a:latin typeface="Inter SemiBold"/>
                <a:ea typeface="Inter SemiBold"/>
                <a:cs typeface="Inter SemiBold"/>
                <a:sym typeface="Inter SemiBold"/>
              </a:endParaRPr>
            </a:p>
          </p:txBody>
        </p:sp>
        <p:sp>
          <p:nvSpPr>
            <p:cNvPr id="225" name="Google Shape;225;p20"/>
            <p:cNvSpPr/>
            <p:nvPr/>
          </p:nvSpPr>
          <p:spPr>
            <a:xfrm>
              <a:off x="4333875" y="142875"/>
              <a:ext cx="9600" cy="4764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26" name="Google Shape;226;p20"/>
            <p:cNvGrpSpPr/>
            <p:nvPr/>
          </p:nvGrpSpPr>
          <p:grpSpPr>
            <a:xfrm>
              <a:off x="4524375" y="266700"/>
              <a:ext cx="228600" cy="228600"/>
              <a:chOff x="0" y="0"/>
              <a:chExt cx="228600" cy="228600"/>
            </a:xfrm>
          </p:grpSpPr>
          <p:sp>
            <p:nvSpPr>
              <p:cNvPr id="227" name="Google Shape;227;p20"/>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20"/>
              <p:cNvSpPr/>
              <p:nvPr/>
            </p:nvSpPr>
            <p:spPr>
              <a:xfrm>
                <a:off x="66675" y="80975"/>
                <a:ext cx="95400" cy="66600"/>
              </a:xfrm>
              <a:custGeom>
                <a:rect b="b" l="l" r="r" t="t"/>
                <a:pathLst>
                  <a:path extrusionOk="0" h="120000" w="120000">
                    <a:moveTo>
                      <a:pt x="0" y="68571"/>
                    </a:moveTo>
                    <a:lnTo>
                      <a:pt x="36000" y="120000"/>
                    </a:lnTo>
                    <a:lnTo>
                      <a:pt x="120000" y="0"/>
                    </a:lnTo>
                  </a:path>
                </a:pathLst>
              </a:custGeom>
              <a:solidFill>
                <a:srgbClr val="000000"/>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29" name="Google Shape;229;p20"/>
            <p:cNvSpPr txBox="1"/>
            <p:nvPr/>
          </p:nvSpPr>
          <p:spPr>
            <a:xfrm>
              <a:off x="4905375" y="114300"/>
              <a:ext cx="3286200" cy="533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 sz="800" u="none" strike="noStrike">
                  <a:solidFill>
                    <a:srgbClr val="059669"/>
                  </a:solidFill>
                  <a:latin typeface="Inter SemiBold"/>
                  <a:ea typeface="Inter SemiBold"/>
                  <a:cs typeface="Inter SemiBold"/>
                  <a:sym typeface="Inter SemiBold"/>
                </a:rPr>
                <a:t>PHASE 1 MITIGATION</a:t>
              </a:r>
              <a:endParaRPr b="0" i="0" sz="800" u="none" strike="noStrike">
                <a:solidFill>
                  <a:srgbClr val="059669"/>
                </a:solidFill>
                <a:latin typeface="Inter SemiBold"/>
                <a:ea typeface="Inter SemiBold"/>
                <a:cs typeface="Inter SemiBold"/>
                <a:sym typeface="Inter SemiBold"/>
              </a:endParaRPr>
            </a:p>
            <a:p>
              <a:pPr indent="0" lvl="0" marL="0" rtl="0" algn="l">
                <a:spcBef>
                  <a:spcPts val="150"/>
                </a:spcBef>
                <a:spcAft>
                  <a:spcPts val="150"/>
                </a:spcAft>
                <a:buNone/>
              </a:pPr>
              <a:r>
                <a:rPr b="0" i="0" lang="en" sz="1100" u="none" strike="noStrike">
                  <a:solidFill>
                    <a:srgbClr val="334155"/>
                  </a:solidFill>
                  <a:latin typeface="Inter"/>
                  <a:ea typeface="Inter"/>
                  <a:cs typeface="Inter"/>
                  <a:sym typeface="Inter"/>
                </a:rPr>
                <a:t>Legacy data quality explicitly flagged as an operational assumption.</a:t>
              </a:r>
              <a:endParaRPr b="0" i="0" sz="800" u="none" strike="noStrike">
                <a:solidFill>
                  <a:srgbClr val="059669"/>
                </a:solidFill>
                <a:latin typeface="Inter SemiBold"/>
                <a:ea typeface="Inter SemiBold"/>
                <a:cs typeface="Inter SemiBold"/>
                <a:sym typeface="Inter SemiBold"/>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33" name="Shape 233"/>
        <p:cNvGrpSpPr/>
        <p:nvPr/>
      </p:nvGrpSpPr>
      <p:grpSpPr>
        <a:xfrm>
          <a:off x="0" y="0"/>
          <a:ext cx="0" cy="0"/>
          <a:chOff x="0" y="0"/>
          <a:chExt cx="0" cy="0"/>
        </a:xfrm>
      </p:grpSpPr>
      <p:grpSp>
        <p:nvGrpSpPr>
          <p:cNvPr id="234" name="Google Shape;234;p21"/>
          <p:cNvGrpSpPr/>
          <p:nvPr/>
        </p:nvGrpSpPr>
        <p:grpSpPr>
          <a:xfrm>
            <a:off x="8610600" y="381000"/>
            <a:ext cx="228600" cy="228600"/>
            <a:chOff x="0" y="0"/>
            <a:chExt cx="228600" cy="228600"/>
          </a:xfrm>
        </p:grpSpPr>
        <p:sp>
          <p:nvSpPr>
            <p:cNvPr id="235" name="Google Shape;235;p21"/>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21"/>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37" name="Google Shape;237;p21"/>
          <p:cNvSpPr/>
          <p:nvPr/>
        </p:nvSpPr>
        <p:spPr>
          <a:xfrm>
            <a:off x="4381500" y="514350"/>
            <a:ext cx="381000" cy="38100"/>
          </a:xfrm>
          <a:prstGeom prst="rect">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8" name="Google Shape;238;p21"/>
          <p:cNvSpPr txBox="1"/>
          <p:nvPr/>
        </p:nvSpPr>
        <p:spPr>
          <a:xfrm>
            <a:off x="762000" y="742950"/>
            <a:ext cx="7620000" cy="10479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 sz="2400">
                <a:solidFill>
                  <a:srgbClr val="0F172A"/>
                </a:solidFill>
                <a:latin typeface="Inter"/>
                <a:ea typeface="Inter"/>
                <a:cs typeface="Inter"/>
                <a:sym typeface="Inter"/>
              </a:rPr>
              <a:t>The Ask: Approve Phase 1 Funding for OPP-01 and OPP-03</a:t>
            </a:r>
            <a:endParaRPr b="1" sz="2400">
              <a:solidFill>
                <a:srgbClr val="0F172A"/>
              </a:solidFill>
              <a:latin typeface="Inter"/>
              <a:ea typeface="Inter"/>
              <a:cs typeface="Inter"/>
              <a:sym typeface="Inter"/>
            </a:endParaRPr>
          </a:p>
          <a:p>
            <a:pPr indent="0" lvl="0" marL="0" rtl="0" algn="ctr">
              <a:spcBef>
                <a:spcPts val="750"/>
              </a:spcBef>
              <a:spcAft>
                <a:spcPts val="0"/>
              </a:spcAft>
              <a:buNone/>
            </a:pPr>
            <a:r>
              <a:rPr b="0" lang="en" sz="1300">
                <a:solidFill>
                  <a:srgbClr val="475569"/>
                </a:solidFill>
                <a:latin typeface="Inter Medium"/>
                <a:ea typeface="Inter Medium"/>
                <a:cs typeface="Inter Medium"/>
                <a:sym typeface="Inter Medium"/>
              </a:rPr>
              <a:t>Mobilize OPP-01 first, since everything else depends on it.</a:t>
            </a:r>
            <a:endParaRPr b="0" sz="1300">
              <a:solidFill>
                <a:srgbClr val="475569"/>
              </a:solidFill>
              <a:latin typeface="Inter Medium"/>
              <a:ea typeface="Inter Medium"/>
              <a:cs typeface="Inter Medium"/>
              <a:sym typeface="Inter Medium"/>
            </a:endParaRPr>
          </a:p>
        </p:txBody>
      </p:sp>
      <p:grpSp>
        <p:nvGrpSpPr>
          <p:cNvPr id="239" name="Google Shape;239;p21"/>
          <p:cNvGrpSpPr/>
          <p:nvPr/>
        </p:nvGrpSpPr>
        <p:grpSpPr>
          <a:xfrm>
            <a:off x="762000" y="2057400"/>
            <a:ext cx="2286000" cy="2324100"/>
            <a:chOff x="0" y="0"/>
            <a:chExt cx="2286000" cy="2324100"/>
          </a:xfrm>
        </p:grpSpPr>
        <p:sp>
          <p:nvSpPr>
            <p:cNvPr id="240" name="Google Shape;240;p21"/>
            <p:cNvSpPr/>
            <p:nvPr/>
          </p:nvSpPr>
          <p:spPr>
            <a:xfrm>
              <a:off x="0" y="0"/>
              <a:ext cx="2286000" cy="2324100"/>
            </a:xfrm>
            <a:prstGeom prst="roundRect">
              <a:avLst>
                <a:gd fmla="val 333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1" name="Google Shape;241;p21"/>
            <p:cNvSpPr/>
            <p:nvPr/>
          </p:nvSpPr>
          <p:spPr>
            <a:xfrm>
              <a:off x="0" y="0"/>
              <a:ext cx="2286000" cy="381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2" name="Google Shape;242;p21"/>
            <p:cNvSpPr txBox="1"/>
            <p:nvPr/>
          </p:nvSpPr>
          <p:spPr>
            <a:xfrm>
              <a:off x="190500" y="228600"/>
              <a:ext cx="1905000" cy="1866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2563EB"/>
                  </a:solidFill>
                  <a:latin typeface="Inter SemiBold"/>
                  <a:ea typeface="Inter SemiBold"/>
                  <a:cs typeface="Inter SemiBold"/>
                  <a:sym typeface="Inter SemiBold"/>
                </a:rPr>
                <a:t>APPROVE</a:t>
              </a:r>
              <a:endParaRPr b="0" sz="900">
                <a:solidFill>
                  <a:srgbClr val="2563EB"/>
                </a:solidFill>
                <a:latin typeface="Inter SemiBold"/>
                <a:ea typeface="Inter SemiBold"/>
                <a:cs typeface="Inter SemiBold"/>
                <a:sym typeface="Inter SemiBold"/>
              </a:endParaRPr>
            </a:p>
            <a:p>
              <a:pPr indent="0" lvl="0" marL="0" rtl="0" algn="l">
                <a:spcBef>
                  <a:spcPts val="600"/>
                </a:spcBef>
                <a:spcAft>
                  <a:spcPts val="0"/>
                </a:spcAft>
                <a:buNone/>
              </a:pPr>
              <a:r>
                <a:rPr b="1" lang="en" sz="1500">
                  <a:solidFill>
                    <a:srgbClr val="0F172A"/>
                  </a:solidFill>
                  <a:latin typeface="Inter"/>
                  <a:ea typeface="Inter"/>
                  <a:cs typeface="Inter"/>
                  <a:sym typeface="Inter"/>
                </a:rPr>
                <a:t>Phase 1 Funding</a:t>
              </a:r>
              <a:endParaRPr b="1" sz="1500">
                <a:solidFill>
                  <a:srgbClr val="0F172A"/>
                </a:solidFill>
                <a:latin typeface="Inter"/>
                <a:ea typeface="Inter"/>
                <a:cs typeface="Inter"/>
                <a:sym typeface="Inter"/>
              </a:endParaRPr>
            </a:p>
            <a:p>
              <a:pPr indent="0" lvl="0" marL="0" rtl="0" algn="l">
                <a:spcBef>
                  <a:spcPts val="1200"/>
                </a:spcBef>
                <a:spcAft>
                  <a:spcPts val="0"/>
                </a:spcAft>
                <a:buNone/>
              </a:pPr>
              <a:r>
                <a:rPr b="0" lang="en" sz="1100">
                  <a:solidFill>
                    <a:srgbClr val="475569"/>
                  </a:solidFill>
                  <a:latin typeface="Inter"/>
                  <a:ea typeface="Inter"/>
                  <a:cs typeface="Inter"/>
                  <a:sym typeface="Inter"/>
                </a:rPr>
                <a:t>• OPP-01</a:t>
              </a:r>
              <a:endParaRPr b="0" sz="1100">
                <a:solidFill>
                  <a:srgbClr val="475569"/>
                </a:solidFill>
                <a:latin typeface="Inter"/>
                <a:ea typeface="Inter"/>
                <a:cs typeface="Inter"/>
                <a:sym typeface="Inter"/>
              </a:endParaRPr>
            </a:p>
            <a:p>
              <a:pPr indent="0" lvl="0" marL="0" rtl="0" algn="l">
                <a:spcBef>
                  <a:spcPts val="600"/>
                </a:spcBef>
                <a:spcAft>
                  <a:spcPts val="0"/>
                </a:spcAft>
                <a:buNone/>
              </a:pPr>
              <a:r>
                <a:rPr b="0" lang="en" sz="1100">
                  <a:solidFill>
                    <a:srgbClr val="475569"/>
                  </a:solidFill>
                  <a:latin typeface="Inter"/>
                  <a:ea typeface="Inter"/>
                  <a:cs typeface="Inter"/>
                  <a:sym typeface="Inter"/>
                </a:rPr>
                <a:t>• OPP-03</a:t>
              </a:r>
              <a:endParaRPr b="0" sz="1100">
                <a:solidFill>
                  <a:srgbClr val="475569"/>
                </a:solidFill>
                <a:latin typeface="Inter"/>
                <a:ea typeface="Inter"/>
                <a:cs typeface="Inter"/>
                <a:sym typeface="Inter"/>
              </a:endParaRPr>
            </a:p>
            <a:p>
              <a:pPr indent="0" lvl="0" marL="0" rtl="0" algn="l">
                <a:spcBef>
                  <a:spcPts val="600"/>
                </a:spcBef>
                <a:spcAft>
                  <a:spcPts val="0"/>
                </a:spcAft>
                <a:buNone/>
              </a:pPr>
              <a:r>
                <a:rPr b="0" lang="en" sz="1100">
                  <a:solidFill>
                    <a:srgbClr val="475569"/>
                  </a:solidFill>
                  <a:latin typeface="Inter"/>
                  <a:ea typeface="Inter"/>
                  <a:cs typeface="Inter"/>
                  <a:sym typeface="Inter"/>
                </a:rPr>
                <a:t>• Minimum self-service</a:t>
              </a:r>
              <a:endParaRPr b="0" sz="1100">
                <a:solidFill>
                  <a:srgbClr val="475569"/>
                </a:solidFill>
                <a:latin typeface="Inter"/>
                <a:ea typeface="Inter"/>
                <a:cs typeface="Inter"/>
                <a:sym typeface="Inter"/>
              </a:endParaRPr>
            </a:p>
          </p:txBody>
        </p:sp>
      </p:grpSp>
      <p:grpSp>
        <p:nvGrpSpPr>
          <p:cNvPr id="243" name="Google Shape;243;p21"/>
          <p:cNvGrpSpPr/>
          <p:nvPr/>
        </p:nvGrpSpPr>
        <p:grpSpPr>
          <a:xfrm>
            <a:off x="3429000" y="2057400"/>
            <a:ext cx="2286000" cy="2324100"/>
            <a:chOff x="0" y="0"/>
            <a:chExt cx="2286000" cy="2324100"/>
          </a:xfrm>
        </p:grpSpPr>
        <p:sp>
          <p:nvSpPr>
            <p:cNvPr id="244" name="Google Shape;244;p21"/>
            <p:cNvSpPr/>
            <p:nvPr/>
          </p:nvSpPr>
          <p:spPr>
            <a:xfrm>
              <a:off x="0" y="0"/>
              <a:ext cx="2286000" cy="2324100"/>
            </a:xfrm>
            <a:prstGeom prst="roundRect">
              <a:avLst>
                <a:gd fmla="val 333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5" name="Google Shape;245;p21"/>
            <p:cNvSpPr/>
            <p:nvPr/>
          </p:nvSpPr>
          <p:spPr>
            <a:xfrm>
              <a:off x="0" y="0"/>
              <a:ext cx="2286000" cy="38100"/>
            </a:xfrm>
            <a:prstGeom prst="roundRect">
              <a:avLst>
                <a:gd fmla="val 50000" name="adj"/>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6" name="Google Shape;246;p21"/>
            <p:cNvSpPr txBox="1"/>
            <p:nvPr/>
          </p:nvSpPr>
          <p:spPr>
            <a:xfrm>
              <a:off x="190500" y="228600"/>
              <a:ext cx="1905000" cy="1866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059669"/>
                  </a:solidFill>
                  <a:latin typeface="Inter SemiBold"/>
                  <a:ea typeface="Inter SemiBold"/>
                  <a:cs typeface="Inter SemiBold"/>
                  <a:sym typeface="Inter SemiBold"/>
                </a:rPr>
                <a:t>ENABLE</a:t>
              </a:r>
              <a:endParaRPr b="0" sz="900">
                <a:solidFill>
                  <a:srgbClr val="059669"/>
                </a:solidFill>
                <a:latin typeface="Inter SemiBold"/>
                <a:ea typeface="Inter SemiBold"/>
                <a:cs typeface="Inter SemiBold"/>
                <a:sym typeface="Inter SemiBold"/>
              </a:endParaRPr>
            </a:p>
            <a:p>
              <a:pPr indent="0" lvl="0" marL="0" rtl="0" algn="l">
                <a:spcBef>
                  <a:spcPts val="600"/>
                </a:spcBef>
                <a:spcAft>
                  <a:spcPts val="0"/>
                </a:spcAft>
                <a:buNone/>
              </a:pPr>
              <a:r>
                <a:rPr b="1" lang="en" sz="1500">
                  <a:solidFill>
                    <a:srgbClr val="0F172A"/>
                  </a:solidFill>
                  <a:latin typeface="Inter"/>
                  <a:ea typeface="Inter"/>
                  <a:cs typeface="Inter"/>
                  <a:sym typeface="Inter"/>
                </a:rPr>
                <a:t>Compliance Review</a:t>
              </a:r>
              <a:endParaRPr b="1" sz="1500">
                <a:solidFill>
                  <a:srgbClr val="0F172A"/>
                </a:solidFill>
                <a:latin typeface="Inter"/>
                <a:ea typeface="Inter"/>
                <a:cs typeface="Inter"/>
                <a:sym typeface="Inter"/>
              </a:endParaRPr>
            </a:p>
            <a:p>
              <a:pPr indent="0" lvl="0" marL="0" rtl="0" algn="l">
                <a:spcBef>
                  <a:spcPts val="1200"/>
                </a:spcBef>
                <a:spcAft>
                  <a:spcPts val="0"/>
                </a:spcAft>
                <a:buNone/>
              </a:pPr>
              <a:r>
                <a:rPr b="0" lang="en" sz="1100">
                  <a:solidFill>
                    <a:srgbClr val="475569"/>
                  </a:solidFill>
                  <a:latin typeface="Inter"/>
                  <a:ea typeface="Inter"/>
                  <a:cs typeface="Inter"/>
                  <a:sym typeface="Inter"/>
                </a:rPr>
                <a:t>Sponsor rapid compliance review for SMS/email identity verification.</a:t>
              </a:r>
              <a:endParaRPr b="0" sz="1100">
                <a:solidFill>
                  <a:srgbClr val="475569"/>
                </a:solidFill>
                <a:latin typeface="Inter"/>
                <a:ea typeface="Inter"/>
                <a:cs typeface="Inter"/>
                <a:sym typeface="Inter"/>
              </a:endParaRPr>
            </a:p>
          </p:txBody>
        </p:sp>
      </p:grpSp>
      <p:grpSp>
        <p:nvGrpSpPr>
          <p:cNvPr id="247" name="Google Shape;247;p21"/>
          <p:cNvGrpSpPr/>
          <p:nvPr/>
        </p:nvGrpSpPr>
        <p:grpSpPr>
          <a:xfrm>
            <a:off x="6096000" y="2057400"/>
            <a:ext cx="2286000" cy="2324100"/>
            <a:chOff x="0" y="0"/>
            <a:chExt cx="2286000" cy="2324100"/>
          </a:xfrm>
        </p:grpSpPr>
        <p:sp>
          <p:nvSpPr>
            <p:cNvPr id="248" name="Google Shape;248;p21"/>
            <p:cNvSpPr/>
            <p:nvPr/>
          </p:nvSpPr>
          <p:spPr>
            <a:xfrm>
              <a:off x="0" y="0"/>
              <a:ext cx="2286000" cy="2324100"/>
            </a:xfrm>
            <a:prstGeom prst="roundRect">
              <a:avLst>
                <a:gd fmla="val 333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9" name="Google Shape;249;p21"/>
            <p:cNvSpPr/>
            <p:nvPr/>
          </p:nvSpPr>
          <p:spPr>
            <a:xfrm>
              <a:off x="0" y="0"/>
              <a:ext cx="2286000" cy="381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0" name="Google Shape;250;p21"/>
            <p:cNvSpPr txBox="1"/>
            <p:nvPr/>
          </p:nvSpPr>
          <p:spPr>
            <a:xfrm>
              <a:off x="190500" y="228600"/>
              <a:ext cx="1905000" cy="1866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900">
                  <a:solidFill>
                    <a:srgbClr val="D97706"/>
                  </a:solidFill>
                  <a:latin typeface="Inter SemiBold"/>
                  <a:ea typeface="Inter SemiBold"/>
                  <a:cs typeface="Inter SemiBold"/>
                  <a:sym typeface="Inter SemiBold"/>
                </a:rPr>
                <a:t>NEXT STEPS</a:t>
              </a:r>
              <a:endParaRPr b="0" sz="900">
                <a:solidFill>
                  <a:srgbClr val="D97706"/>
                </a:solidFill>
                <a:latin typeface="Inter SemiBold"/>
                <a:ea typeface="Inter SemiBold"/>
                <a:cs typeface="Inter SemiBold"/>
                <a:sym typeface="Inter SemiBold"/>
              </a:endParaRPr>
            </a:p>
            <a:p>
              <a:pPr indent="0" lvl="0" marL="0" rtl="0" algn="l">
                <a:spcBef>
                  <a:spcPts val="600"/>
                </a:spcBef>
                <a:spcAft>
                  <a:spcPts val="0"/>
                </a:spcAft>
                <a:buNone/>
              </a:pPr>
              <a:r>
                <a:rPr b="1" lang="en" sz="1500">
                  <a:solidFill>
                    <a:srgbClr val="0F172A"/>
                  </a:solidFill>
                  <a:latin typeface="Inter"/>
                  <a:ea typeface="Inter"/>
                  <a:cs typeface="Inter"/>
                  <a:sym typeface="Inter"/>
                </a:rPr>
                <a:t>Immediate Kickoff</a:t>
              </a:r>
              <a:endParaRPr b="1" sz="1500">
                <a:solidFill>
                  <a:srgbClr val="0F172A"/>
                </a:solidFill>
                <a:latin typeface="Inter"/>
                <a:ea typeface="Inter"/>
                <a:cs typeface="Inter"/>
                <a:sym typeface="Inter"/>
              </a:endParaRPr>
            </a:p>
            <a:p>
              <a:pPr indent="0" lvl="0" marL="0" rtl="0" algn="l">
                <a:spcBef>
                  <a:spcPts val="1200"/>
                </a:spcBef>
                <a:spcAft>
                  <a:spcPts val="0"/>
                </a:spcAft>
                <a:buNone/>
              </a:pPr>
              <a:r>
                <a:rPr b="0" lang="en" sz="1100">
                  <a:solidFill>
                    <a:srgbClr val="475569"/>
                  </a:solidFill>
                  <a:latin typeface="Inter"/>
                  <a:ea typeface="Inter"/>
                  <a:cs typeface="Inter"/>
                  <a:sym typeface="Inter"/>
                </a:rPr>
                <a:t>Launch backlog refinement and align data governance rules.</a:t>
              </a:r>
              <a:endParaRPr b="0" sz="1100">
                <a:solidFill>
                  <a:srgbClr val="475569"/>
                </a:solidFill>
                <a:latin typeface="Inter"/>
                <a:ea typeface="Inter"/>
                <a:cs typeface="Inter"/>
                <a:sym typeface="Inte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54" name="Shape 254"/>
        <p:cNvGrpSpPr/>
        <p:nvPr/>
      </p:nvGrpSpPr>
      <p:grpSpPr>
        <a:xfrm>
          <a:off x="0" y="0"/>
          <a:ext cx="0" cy="0"/>
          <a:chOff x="0" y="0"/>
          <a:chExt cx="0" cy="0"/>
        </a:xfrm>
      </p:grpSpPr>
      <p:grpSp>
        <p:nvGrpSpPr>
          <p:cNvPr id="255" name="Google Shape;255;p22"/>
          <p:cNvGrpSpPr/>
          <p:nvPr/>
        </p:nvGrpSpPr>
        <p:grpSpPr>
          <a:xfrm>
            <a:off x="381000" y="342900"/>
            <a:ext cx="8458200" cy="914550"/>
            <a:chOff x="381000" y="342900"/>
            <a:chExt cx="8458200" cy="914550"/>
          </a:xfrm>
        </p:grpSpPr>
        <p:grpSp>
          <p:nvGrpSpPr>
            <p:cNvPr id="256" name="Google Shape;256;p22"/>
            <p:cNvGrpSpPr/>
            <p:nvPr/>
          </p:nvGrpSpPr>
          <p:grpSpPr>
            <a:xfrm>
              <a:off x="8610600" y="381000"/>
              <a:ext cx="228600" cy="228600"/>
              <a:chOff x="0" y="0"/>
              <a:chExt cx="228600" cy="228600"/>
            </a:xfrm>
          </p:grpSpPr>
          <p:sp>
            <p:nvSpPr>
              <p:cNvPr id="257" name="Google Shape;257;p22"/>
              <p:cNvSpPr/>
              <p:nvPr/>
            </p:nvSpPr>
            <p:spPr>
              <a:xfrm>
                <a:off x="0" y="0"/>
                <a:ext cx="152400" cy="152400"/>
              </a:xfrm>
              <a:prstGeom prst="rect">
                <a:avLst/>
              </a:prstGeom>
              <a:solidFill>
                <a:srgbClr val="2563EB">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8" name="Google Shape;258;p22"/>
              <p:cNvSpPr/>
              <p:nvPr/>
            </p:nvSpPr>
            <p:spPr>
              <a:xfrm>
                <a:off x="76200" y="76200"/>
                <a:ext cx="152400" cy="152400"/>
              </a:xfrm>
              <a:prstGeom prst="rect">
                <a:avLst/>
              </a:prstGeom>
              <a:solidFill>
                <a:srgbClr val="0F172A">
                  <a:alpha val="9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59" name="Google Shape;259;p22"/>
            <p:cNvSpPr txBox="1"/>
            <p:nvPr/>
          </p:nvSpPr>
          <p:spPr>
            <a:xfrm>
              <a:off x="381000" y="342900"/>
              <a:ext cx="8001000" cy="7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 sz="2400">
                  <a:solidFill>
                    <a:srgbClr val="0F172A"/>
                  </a:solidFill>
                  <a:latin typeface="Inter"/>
                  <a:ea typeface="Inter"/>
                  <a:cs typeface="Inter"/>
                  <a:sym typeface="Inter"/>
                </a:rPr>
                <a:t>Appendix: Core analysis details for validation.</a:t>
              </a:r>
              <a:endParaRPr b="1" sz="2400">
                <a:solidFill>
                  <a:srgbClr val="0F172A"/>
                </a:solidFill>
                <a:latin typeface="Inter"/>
                <a:ea typeface="Inter"/>
                <a:cs typeface="Inter"/>
                <a:sym typeface="Inter"/>
              </a:endParaRPr>
            </a:p>
          </p:txBody>
        </p:sp>
        <p:sp>
          <p:nvSpPr>
            <p:cNvPr id="260" name="Google Shape;260;p22"/>
            <p:cNvSpPr/>
            <p:nvPr/>
          </p:nvSpPr>
          <p:spPr>
            <a:xfrm>
              <a:off x="381000" y="1238250"/>
              <a:ext cx="8382000" cy="19200"/>
            </a:xfrm>
            <a:prstGeom prst="rect">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61" name="Google Shape;261;p22"/>
          <p:cNvGrpSpPr/>
          <p:nvPr/>
        </p:nvGrpSpPr>
        <p:grpSpPr>
          <a:xfrm>
            <a:off x="381000" y="1381125"/>
            <a:ext cx="3905400" cy="3238500"/>
            <a:chOff x="381000" y="1381125"/>
            <a:chExt cx="3905400" cy="3238500"/>
          </a:xfrm>
        </p:grpSpPr>
        <p:sp>
          <p:nvSpPr>
            <p:cNvPr id="262" name="Google Shape;262;p22"/>
            <p:cNvSpPr/>
            <p:nvPr/>
          </p:nvSpPr>
          <p:spPr>
            <a:xfrm>
              <a:off x="381000" y="1381125"/>
              <a:ext cx="3905400" cy="3238500"/>
            </a:xfrm>
            <a:prstGeom prst="roundRect">
              <a:avLst>
                <a:gd fmla="val 176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3" name="Google Shape;263;p22"/>
            <p:cNvSpPr txBox="1"/>
            <p:nvPr/>
          </p:nvSpPr>
          <p:spPr>
            <a:xfrm>
              <a:off x="571500" y="1571625"/>
              <a:ext cx="3524400" cy="428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833">
                  <a:solidFill>
                    <a:srgbClr val="2563EB"/>
                  </a:solidFill>
                  <a:latin typeface="Inter SemiBold"/>
                  <a:ea typeface="Inter SemiBold"/>
                  <a:cs typeface="Inter SemiBold"/>
                  <a:sym typeface="Inter SemiBold"/>
                </a:rPr>
                <a:t>Portfolio Segmentation</a:t>
              </a:r>
              <a:endParaRPr b="0" sz="833">
                <a:solidFill>
                  <a:srgbClr val="2563EB"/>
                </a:solidFill>
                <a:latin typeface="Inter SemiBold"/>
                <a:ea typeface="Inter SemiBold"/>
                <a:cs typeface="Inter SemiBold"/>
                <a:sym typeface="Inter SemiBold"/>
              </a:endParaRPr>
            </a:p>
            <a:p>
              <a:pPr indent="0" lvl="0" marL="0" rtl="0" algn="l">
                <a:spcBef>
                  <a:spcPts val="600"/>
                </a:spcBef>
                <a:spcAft>
                  <a:spcPts val="0"/>
                </a:spcAft>
                <a:buNone/>
              </a:pPr>
              <a:r>
                <a:rPr b="1" lang="en" sz="1480">
                  <a:solidFill>
                    <a:srgbClr val="0F172A"/>
                  </a:solidFill>
                  <a:latin typeface="Inter"/>
                  <a:ea typeface="Inter"/>
                  <a:cs typeface="Inter"/>
                  <a:sym typeface="Inter"/>
                </a:rPr>
                <a:t>3,426-Account Breakdown</a:t>
              </a:r>
              <a:endParaRPr b="1" sz="1480">
                <a:solidFill>
                  <a:srgbClr val="0F172A"/>
                </a:solidFill>
                <a:latin typeface="Inter"/>
                <a:ea typeface="Inter"/>
                <a:cs typeface="Inter"/>
                <a:sym typeface="Inter"/>
              </a:endParaRPr>
            </a:p>
          </p:txBody>
        </p:sp>
        <p:grpSp>
          <p:nvGrpSpPr>
            <p:cNvPr id="264" name="Google Shape;264;p22"/>
            <p:cNvGrpSpPr/>
            <p:nvPr/>
          </p:nvGrpSpPr>
          <p:grpSpPr>
            <a:xfrm>
              <a:off x="571500" y="2114550"/>
              <a:ext cx="3429150" cy="238200"/>
              <a:chOff x="571500" y="0"/>
              <a:chExt cx="3429150" cy="238200"/>
            </a:xfrm>
          </p:grpSpPr>
          <p:sp>
            <p:nvSpPr>
              <p:cNvPr id="265" name="Google Shape;265;p22"/>
              <p:cNvSpPr txBox="1"/>
              <p:nvPr/>
            </p:nvSpPr>
            <p:spPr>
              <a:xfrm>
                <a:off x="571500" y="0"/>
                <a:ext cx="1714500" cy="23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Straightforward</a:t>
                </a:r>
                <a:endParaRPr b="0" sz="1200">
                  <a:solidFill>
                    <a:srgbClr val="0F172A"/>
                  </a:solidFill>
                  <a:latin typeface="Inter Medium"/>
                  <a:ea typeface="Inter Medium"/>
                  <a:cs typeface="Inter Medium"/>
                  <a:sym typeface="Inter Medium"/>
                </a:endParaRPr>
              </a:p>
            </p:txBody>
          </p:sp>
          <p:sp>
            <p:nvSpPr>
              <p:cNvPr id="266" name="Google Shape;266;p22"/>
              <p:cNvSpPr txBox="1"/>
              <p:nvPr/>
            </p:nvSpPr>
            <p:spPr>
              <a:xfrm>
                <a:off x="2381250" y="0"/>
                <a:ext cx="381000" cy="238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 sz="1200">
                    <a:solidFill>
                      <a:srgbClr val="2563EB"/>
                    </a:solidFill>
                    <a:latin typeface="Inter"/>
                    <a:ea typeface="Inter"/>
                    <a:cs typeface="Inter"/>
                    <a:sym typeface="Inter"/>
                  </a:rPr>
                  <a:t>38%</a:t>
                </a:r>
                <a:endParaRPr b="1" sz="1200">
                  <a:solidFill>
                    <a:srgbClr val="2563EB"/>
                  </a:solidFill>
                  <a:latin typeface="Inter"/>
                  <a:ea typeface="Inter"/>
                  <a:cs typeface="Inter"/>
                  <a:sym typeface="Inter"/>
                </a:endParaRPr>
              </a:p>
            </p:txBody>
          </p:sp>
          <p:sp>
            <p:nvSpPr>
              <p:cNvPr id="267" name="Google Shape;267;p22"/>
              <p:cNvSpPr/>
              <p:nvPr/>
            </p:nvSpPr>
            <p:spPr>
              <a:xfrm>
                <a:off x="2952750" y="85725"/>
                <a:ext cx="1047900" cy="57300"/>
              </a:xfrm>
              <a:prstGeom prst="roundRect">
                <a:avLst>
                  <a:gd fmla="val 50000" name="adj"/>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8" name="Google Shape;268;p22"/>
              <p:cNvSpPr/>
              <p:nvPr/>
            </p:nvSpPr>
            <p:spPr>
              <a:xfrm>
                <a:off x="2952750" y="85725"/>
                <a:ext cx="398100" cy="573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69" name="Google Shape;269;p22"/>
            <p:cNvGrpSpPr/>
            <p:nvPr/>
          </p:nvGrpSpPr>
          <p:grpSpPr>
            <a:xfrm>
              <a:off x="571500" y="2590800"/>
              <a:ext cx="3429150" cy="238200"/>
              <a:chOff x="571500" y="0"/>
              <a:chExt cx="3429150" cy="238200"/>
            </a:xfrm>
          </p:grpSpPr>
          <p:sp>
            <p:nvSpPr>
              <p:cNvPr id="270" name="Google Shape;270;p22"/>
              <p:cNvSpPr txBox="1"/>
              <p:nvPr/>
            </p:nvSpPr>
            <p:spPr>
              <a:xfrm>
                <a:off x="571500" y="0"/>
                <a:ext cx="1714500" cy="23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Complex/High-Risk</a:t>
                </a:r>
                <a:endParaRPr b="0" sz="1200">
                  <a:solidFill>
                    <a:srgbClr val="0F172A"/>
                  </a:solidFill>
                  <a:latin typeface="Inter Medium"/>
                  <a:ea typeface="Inter Medium"/>
                  <a:cs typeface="Inter Medium"/>
                  <a:sym typeface="Inter Medium"/>
                </a:endParaRPr>
              </a:p>
            </p:txBody>
          </p:sp>
          <p:sp>
            <p:nvSpPr>
              <p:cNvPr id="271" name="Google Shape;271;p22"/>
              <p:cNvSpPr txBox="1"/>
              <p:nvPr/>
            </p:nvSpPr>
            <p:spPr>
              <a:xfrm>
                <a:off x="2381250" y="0"/>
                <a:ext cx="381000" cy="238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 sz="1200">
                    <a:solidFill>
                      <a:srgbClr val="D97706"/>
                    </a:solidFill>
                    <a:latin typeface="Inter"/>
                    <a:ea typeface="Inter"/>
                    <a:cs typeface="Inter"/>
                    <a:sym typeface="Inter"/>
                  </a:rPr>
                  <a:t>22%</a:t>
                </a:r>
                <a:endParaRPr b="1" sz="1200">
                  <a:solidFill>
                    <a:srgbClr val="D97706"/>
                  </a:solidFill>
                  <a:latin typeface="Inter"/>
                  <a:ea typeface="Inter"/>
                  <a:cs typeface="Inter"/>
                  <a:sym typeface="Inter"/>
                </a:endParaRPr>
              </a:p>
            </p:txBody>
          </p:sp>
          <p:sp>
            <p:nvSpPr>
              <p:cNvPr id="272" name="Google Shape;272;p22"/>
              <p:cNvSpPr/>
              <p:nvPr/>
            </p:nvSpPr>
            <p:spPr>
              <a:xfrm>
                <a:off x="2952750" y="85725"/>
                <a:ext cx="1047900" cy="57300"/>
              </a:xfrm>
              <a:prstGeom prst="roundRect">
                <a:avLst>
                  <a:gd fmla="val 50000" name="adj"/>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22"/>
              <p:cNvSpPr/>
              <p:nvPr/>
            </p:nvSpPr>
            <p:spPr>
              <a:xfrm>
                <a:off x="2952750" y="85725"/>
                <a:ext cx="230400" cy="573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74" name="Google Shape;274;p22"/>
            <p:cNvGrpSpPr/>
            <p:nvPr/>
          </p:nvGrpSpPr>
          <p:grpSpPr>
            <a:xfrm>
              <a:off x="571500" y="3067050"/>
              <a:ext cx="3429150" cy="238200"/>
              <a:chOff x="571500" y="0"/>
              <a:chExt cx="3429150" cy="238200"/>
            </a:xfrm>
          </p:grpSpPr>
          <p:sp>
            <p:nvSpPr>
              <p:cNvPr id="275" name="Google Shape;275;p22"/>
              <p:cNvSpPr txBox="1"/>
              <p:nvPr/>
            </p:nvSpPr>
            <p:spPr>
              <a:xfrm>
                <a:off x="571500" y="0"/>
                <a:ext cx="1714500" cy="23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Unresponsive</a:t>
                </a:r>
                <a:endParaRPr b="0" sz="1200">
                  <a:solidFill>
                    <a:srgbClr val="0F172A"/>
                  </a:solidFill>
                  <a:latin typeface="Inter Medium"/>
                  <a:ea typeface="Inter Medium"/>
                  <a:cs typeface="Inter Medium"/>
                  <a:sym typeface="Inter Medium"/>
                </a:endParaRPr>
              </a:p>
            </p:txBody>
          </p:sp>
          <p:sp>
            <p:nvSpPr>
              <p:cNvPr id="276" name="Google Shape;276;p22"/>
              <p:cNvSpPr txBox="1"/>
              <p:nvPr/>
            </p:nvSpPr>
            <p:spPr>
              <a:xfrm>
                <a:off x="2381250" y="0"/>
                <a:ext cx="381000" cy="238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 sz="1200">
                    <a:solidFill>
                      <a:srgbClr val="475569"/>
                    </a:solidFill>
                    <a:latin typeface="Inter"/>
                    <a:ea typeface="Inter"/>
                    <a:cs typeface="Inter"/>
                    <a:sym typeface="Inter"/>
                  </a:rPr>
                  <a:t>20%</a:t>
                </a:r>
                <a:endParaRPr b="1" sz="1200">
                  <a:solidFill>
                    <a:srgbClr val="475569"/>
                  </a:solidFill>
                  <a:latin typeface="Inter"/>
                  <a:ea typeface="Inter"/>
                  <a:cs typeface="Inter"/>
                  <a:sym typeface="Inter"/>
                </a:endParaRPr>
              </a:p>
            </p:txBody>
          </p:sp>
          <p:sp>
            <p:nvSpPr>
              <p:cNvPr id="277" name="Google Shape;277;p22"/>
              <p:cNvSpPr/>
              <p:nvPr/>
            </p:nvSpPr>
            <p:spPr>
              <a:xfrm>
                <a:off x="2952750" y="85725"/>
                <a:ext cx="1047900" cy="57300"/>
              </a:xfrm>
              <a:prstGeom prst="roundRect">
                <a:avLst>
                  <a:gd fmla="val 50000" name="adj"/>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8" name="Google Shape;278;p22"/>
              <p:cNvSpPr/>
              <p:nvPr/>
            </p:nvSpPr>
            <p:spPr>
              <a:xfrm>
                <a:off x="2952750" y="85725"/>
                <a:ext cx="209700" cy="57300"/>
              </a:xfrm>
              <a:prstGeom prst="roundRect">
                <a:avLst>
                  <a:gd fmla="val 50000" name="adj"/>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79" name="Google Shape;279;p22"/>
            <p:cNvGrpSpPr/>
            <p:nvPr/>
          </p:nvGrpSpPr>
          <p:grpSpPr>
            <a:xfrm>
              <a:off x="571500" y="3543300"/>
              <a:ext cx="3429150" cy="238200"/>
              <a:chOff x="571500" y="0"/>
              <a:chExt cx="3429150" cy="238200"/>
            </a:xfrm>
          </p:grpSpPr>
          <p:sp>
            <p:nvSpPr>
              <p:cNvPr id="280" name="Google Shape;280;p22"/>
              <p:cNvSpPr txBox="1"/>
              <p:nvPr/>
            </p:nvSpPr>
            <p:spPr>
              <a:xfrm>
                <a:off x="571500" y="0"/>
                <a:ext cx="1714500" cy="23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Engaged</a:t>
                </a:r>
                <a:endParaRPr b="0" sz="1200">
                  <a:solidFill>
                    <a:srgbClr val="0F172A"/>
                  </a:solidFill>
                  <a:latin typeface="Inter Medium"/>
                  <a:ea typeface="Inter Medium"/>
                  <a:cs typeface="Inter Medium"/>
                  <a:sym typeface="Inter Medium"/>
                </a:endParaRPr>
              </a:p>
            </p:txBody>
          </p:sp>
          <p:sp>
            <p:nvSpPr>
              <p:cNvPr id="281" name="Google Shape;281;p22"/>
              <p:cNvSpPr txBox="1"/>
              <p:nvPr/>
            </p:nvSpPr>
            <p:spPr>
              <a:xfrm>
                <a:off x="2381250" y="0"/>
                <a:ext cx="381000" cy="238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 sz="1200">
                    <a:solidFill>
                      <a:srgbClr val="059669"/>
                    </a:solidFill>
                    <a:latin typeface="Inter"/>
                    <a:ea typeface="Inter"/>
                    <a:cs typeface="Inter"/>
                    <a:sym typeface="Inter"/>
                  </a:rPr>
                  <a:t>15%</a:t>
                </a:r>
                <a:endParaRPr b="1" sz="1200">
                  <a:solidFill>
                    <a:srgbClr val="059669"/>
                  </a:solidFill>
                  <a:latin typeface="Inter"/>
                  <a:ea typeface="Inter"/>
                  <a:cs typeface="Inter"/>
                  <a:sym typeface="Inter"/>
                </a:endParaRPr>
              </a:p>
            </p:txBody>
          </p:sp>
          <p:sp>
            <p:nvSpPr>
              <p:cNvPr id="282" name="Google Shape;282;p22"/>
              <p:cNvSpPr/>
              <p:nvPr/>
            </p:nvSpPr>
            <p:spPr>
              <a:xfrm>
                <a:off x="2952750" y="85725"/>
                <a:ext cx="1047900" cy="57300"/>
              </a:xfrm>
              <a:prstGeom prst="roundRect">
                <a:avLst>
                  <a:gd fmla="val 50000" name="adj"/>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3" name="Google Shape;283;p22"/>
              <p:cNvSpPr/>
              <p:nvPr/>
            </p:nvSpPr>
            <p:spPr>
              <a:xfrm>
                <a:off x="2952750" y="85725"/>
                <a:ext cx="157200" cy="57300"/>
              </a:xfrm>
              <a:prstGeom prst="roundRect">
                <a:avLst>
                  <a:gd fmla="val 50000" name="adj"/>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84" name="Google Shape;284;p22"/>
            <p:cNvGrpSpPr/>
            <p:nvPr/>
          </p:nvGrpSpPr>
          <p:grpSpPr>
            <a:xfrm>
              <a:off x="571500" y="4019550"/>
              <a:ext cx="3429150" cy="238200"/>
              <a:chOff x="571500" y="0"/>
              <a:chExt cx="3429150" cy="238200"/>
            </a:xfrm>
          </p:grpSpPr>
          <p:sp>
            <p:nvSpPr>
              <p:cNvPr id="285" name="Google Shape;285;p22"/>
              <p:cNvSpPr txBox="1"/>
              <p:nvPr/>
            </p:nvSpPr>
            <p:spPr>
              <a:xfrm>
                <a:off x="571500" y="0"/>
                <a:ext cx="1714500" cy="23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Incomplete Data</a:t>
                </a:r>
                <a:endParaRPr b="0" sz="1200">
                  <a:solidFill>
                    <a:srgbClr val="0F172A"/>
                  </a:solidFill>
                  <a:latin typeface="Inter Medium"/>
                  <a:ea typeface="Inter Medium"/>
                  <a:cs typeface="Inter Medium"/>
                  <a:sym typeface="Inter Medium"/>
                </a:endParaRPr>
              </a:p>
            </p:txBody>
          </p:sp>
          <p:sp>
            <p:nvSpPr>
              <p:cNvPr id="286" name="Google Shape;286;p22"/>
              <p:cNvSpPr txBox="1"/>
              <p:nvPr/>
            </p:nvSpPr>
            <p:spPr>
              <a:xfrm>
                <a:off x="2381250" y="0"/>
                <a:ext cx="381000" cy="2382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 sz="1200">
                    <a:solidFill>
                      <a:srgbClr val="475569"/>
                    </a:solidFill>
                    <a:latin typeface="Inter"/>
                    <a:ea typeface="Inter"/>
                    <a:cs typeface="Inter"/>
                    <a:sym typeface="Inter"/>
                  </a:rPr>
                  <a:t>5%</a:t>
                </a:r>
                <a:endParaRPr b="1" sz="1200">
                  <a:solidFill>
                    <a:srgbClr val="475569"/>
                  </a:solidFill>
                  <a:latin typeface="Inter"/>
                  <a:ea typeface="Inter"/>
                  <a:cs typeface="Inter"/>
                  <a:sym typeface="Inter"/>
                </a:endParaRPr>
              </a:p>
            </p:txBody>
          </p:sp>
          <p:sp>
            <p:nvSpPr>
              <p:cNvPr id="287" name="Google Shape;287;p22"/>
              <p:cNvSpPr/>
              <p:nvPr/>
            </p:nvSpPr>
            <p:spPr>
              <a:xfrm>
                <a:off x="2952750" y="85725"/>
                <a:ext cx="1047900" cy="57300"/>
              </a:xfrm>
              <a:prstGeom prst="roundRect">
                <a:avLst>
                  <a:gd fmla="val 50000" name="adj"/>
                </a:avLst>
              </a:prstGeom>
              <a:solidFill>
                <a:srgbClr val="E2E8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8" name="Google Shape;288;p22"/>
              <p:cNvSpPr/>
              <p:nvPr/>
            </p:nvSpPr>
            <p:spPr>
              <a:xfrm>
                <a:off x="2952750" y="85725"/>
                <a:ext cx="52500" cy="57300"/>
              </a:xfrm>
              <a:prstGeom prst="roundRect">
                <a:avLst>
                  <a:gd fmla="val 50000" name="adj"/>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289" name="Google Shape;289;p22"/>
          <p:cNvGrpSpPr/>
          <p:nvPr/>
        </p:nvGrpSpPr>
        <p:grpSpPr>
          <a:xfrm>
            <a:off x="4667250" y="1381125"/>
            <a:ext cx="4095900" cy="3238500"/>
            <a:chOff x="4667250" y="1381125"/>
            <a:chExt cx="4095900" cy="3238500"/>
          </a:xfrm>
        </p:grpSpPr>
        <p:sp>
          <p:nvSpPr>
            <p:cNvPr id="290" name="Google Shape;290;p22"/>
            <p:cNvSpPr/>
            <p:nvPr/>
          </p:nvSpPr>
          <p:spPr>
            <a:xfrm>
              <a:off x="4667250" y="1381125"/>
              <a:ext cx="4095900" cy="3238500"/>
            </a:xfrm>
            <a:prstGeom prst="roundRect">
              <a:avLst>
                <a:gd fmla="val 1764"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1" name="Google Shape;291;p22"/>
            <p:cNvSpPr/>
            <p:nvPr/>
          </p:nvSpPr>
          <p:spPr>
            <a:xfrm>
              <a:off x="4667250" y="1381125"/>
              <a:ext cx="38100" cy="3238500"/>
            </a:xfrm>
            <a:prstGeom prst="roundRect">
              <a:avLst>
                <a:gd fmla="val 50000" name="adj"/>
              </a:avLst>
            </a:prstGeom>
            <a:solidFill>
              <a:srgbClr val="2563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22"/>
            <p:cNvSpPr txBox="1"/>
            <p:nvPr/>
          </p:nvSpPr>
          <p:spPr>
            <a:xfrm>
              <a:off x="4905375" y="1571625"/>
              <a:ext cx="3619500" cy="428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833">
                  <a:solidFill>
                    <a:srgbClr val="2563EB"/>
                  </a:solidFill>
                  <a:latin typeface="Inter SemiBold"/>
                  <a:ea typeface="Inter SemiBold"/>
                  <a:cs typeface="Inter SemiBold"/>
                  <a:sym typeface="Inter SemiBold"/>
                </a:rPr>
                <a:t>References &amp; Validation</a:t>
              </a:r>
              <a:endParaRPr b="0" sz="833">
                <a:solidFill>
                  <a:srgbClr val="2563EB"/>
                </a:solidFill>
                <a:latin typeface="Inter SemiBold"/>
                <a:ea typeface="Inter SemiBold"/>
                <a:cs typeface="Inter SemiBold"/>
                <a:sym typeface="Inter SemiBold"/>
              </a:endParaRPr>
            </a:p>
            <a:p>
              <a:pPr indent="0" lvl="0" marL="0" rtl="0" algn="l">
                <a:spcBef>
                  <a:spcPts val="600"/>
                </a:spcBef>
                <a:spcAft>
                  <a:spcPts val="0"/>
                </a:spcAft>
                <a:buNone/>
              </a:pPr>
              <a:r>
                <a:rPr b="1" lang="en" sz="1480">
                  <a:solidFill>
                    <a:srgbClr val="0F172A"/>
                  </a:solidFill>
                  <a:latin typeface="Inter"/>
                  <a:ea typeface="Inter"/>
                  <a:cs typeface="Inter"/>
                  <a:sym typeface="Inter"/>
                </a:rPr>
                <a:t>Supporting Materials</a:t>
              </a:r>
              <a:endParaRPr b="1" sz="1480">
                <a:solidFill>
                  <a:srgbClr val="0F172A"/>
                </a:solidFill>
                <a:latin typeface="Inter"/>
                <a:ea typeface="Inter"/>
                <a:cs typeface="Inter"/>
                <a:sym typeface="Inter"/>
              </a:endParaRPr>
            </a:p>
          </p:txBody>
        </p:sp>
        <p:grpSp>
          <p:nvGrpSpPr>
            <p:cNvPr id="293" name="Google Shape;293;p22"/>
            <p:cNvGrpSpPr/>
            <p:nvPr/>
          </p:nvGrpSpPr>
          <p:grpSpPr>
            <a:xfrm>
              <a:off x="4905375" y="2114550"/>
              <a:ext cx="3571875" cy="228600"/>
              <a:chOff x="4905375" y="0"/>
              <a:chExt cx="3571875" cy="228600"/>
            </a:xfrm>
          </p:grpSpPr>
          <p:grpSp>
            <p:nvGrpSpPr>
              <p:cNvPr id="294" name="Google Shape;294;p22"/>
              <p:cNvGrpSpPr/>
              <p:nvPr/>
            </p:nvGrpSpPr>
            <p:grpSpPr>
              <a:xfrm>
                <a:off x="4905375" y="0"/>
                <a:ext cx="228600" cy="228600"/>
                <a:chOff x="0" y="0"/>
                <a:chExt cx="228600" cy="228600"/>
              </a:xfrm>
            </p:grpSpPr>
            <p:sp>
              <p:nvSpPr>
                <p:cNvPr id="295" name="Google Shape;295;p22"/>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6" name="Google Shape;296;p22"/>
                <p:cNvSpPr/>
                <p:nvPr/>
              </p:nvSpPr>
              <p:spPr>
                <a:xfrm>
                  <a:off x="66675" y="80963"/>
                  <a:ext cx="95400" cy="66600"/>
                </a:xfrm>
                <a:custGeom>
                  <a:rect b="b" l="l" r="r" t="t"/>
                  <a:pathLst>
                    <a:path extrusionOk="0" h="120000" w="120000">
                      <a:moveTo>
                        <a:pt x="0" y="68571"/>
                      </a:moveTo>
                      <a:lnTo>
                        <a:pt x="36000" y="120000"/>
                      </a:lnTo>
                      <a:lnTo>
                        <a:pt x="120000" y="0"/>
                      </a:lnTo>
                    </a:path>
                  </a:pathLst>
                </a:custGeom>
                <a:solidFill>
                  <a:srgbClr val="000000">
                    <a:alpha val="0"/>
                  </a:srgbClr>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97" name="Google Shape;297;p22"/>
              <p:cNvSpPr txBox="1"/>
              <p:nvPr/>
            </p:nvSpPr>
            <p:spPr>
              <a:xfrm>
                <a:off x="5238750" y="0"/>
                <a:ext cx="3238500" cy="228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Detailed ROI Sheet</a:t>
                </a:r>
                <a:endParaRPr b="0" sz="1200">
                  <a:solidFill>
                    <a:srgbClr val="0F172A"/>
                  </a:solidFill>
                  <a:latin typeface="Inter Medium"/>
                  <a:ea typeface="Inter Medium"/>
                  <a:cs typeface="Inter Medium"/>
                  <a:sym typeface="Inter Medium"/>
                </a:endParaRPr>
              </a:p>
            </p:txBody>
          </p:sp>
        </p:grpSp>
        <p:grpSp>
          <p:nvGrpSpPr>
            <p:cNvPr id="298" name="Google Shape;298;p22"/>
            <p:cNvGrpSpPr/>
            <p:nvPr/>
          </p:nvGrpSpPr>
          <p:grpSpPr>
            <a:xfrm>
              <a:off x="4905375" y="2638425"/>
              <a:ext cx="3571875" cy="228600"/>
              <a:chOff x="4905375" y="0"/>
              <a:chExt cx="3571875" cy="228600"/>
            </a:xfrm>
          </p:grpSpPr>
          <p:grpSp>
            <p:nvGrpSpPr>
              <p:cNvPr id="299" name="Google Shape;299;p22"/>
              <p:cNvGrpSpPr/>
              <p:nvPr/>
            </p:nvGrpSpPr>
            <p:grpSpPr>
              <a:xfrm>
                <a:off x="4905375" y="0"/>
                <a:ext cx="228600" cy="228600"/>
                <a:chOff x="0" y="0"/>
                <a:chExt cx="228600" cy="228600"/>
              </a:xfrm>
            </p:grpSpPr>
            <p:sp>
              <p:nvSpPr>
                <p:cNvPr id="300" name="Google Shape;300;p22"/>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1" name="Google Shape;301;p22"/>
                <p:cNvSpPr/>
                <p:nvPr/>
              </p:nvSpPr>
              <p:spPr>
                <a:xfrm>
                  <a:off x="66675" y="80963"/>
                  <a:ext cx="95400" cy="66600"/>
                </a:xfrm>
                <a:custGeom>
                  <a:rect b="b" l="l" r="r" t="t"/>
                  <a:pathLst>
                    <a:path extrusionOk="0" h="120000" w="120000">
                      <a:moveTo>
                        <a:pt x="0" y="68571"/>
                      </a:moveTo>
                      <a:lnTo>
                        <a:pt x="36000" y="120000"/>
                      </a:lnTo>
                      <a:lnTo>
                        <a:pt x="120000" y="0"/>
                      </a:lnTo>
                    </a:path>
                  </a:pathLst>
                </a:custGeom>
                <a:solidFill>
                  <a:srgbClr val="000000">
                    <a:alpha val="0"/>
                  </a:srgbClr>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302" name="Google Shape;302;p22"/>
              <p:cNvSpPr txBox="1"/>
              <p:nvPr/>
            </p:nvSpPr>
            <p:spPr>
              <a:xfrm>
                <a:off x="5238750" y="0"/>
                <a:ext cx="3238500" cy="228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Comprehensive Backlog</a:t>
                </a:r>
                <a:endParaRPr b="0" sz="1200">
                  <a:solidFill>
                    <a:srgbClr val="0F172A"/>
                  </a:solidFill>
                  <a:latin typeface="Inter Medium"/>
                  <a:ea typeface="Inter Medium"/>
                  <a:cs typeface="Inter Medium"/>
                  <a:sym typeface="Inter Medium"/>
                </a:endParaRPr>
              </a:p>
            </p:txBody>
          </p:sp>
        </p:grpSp>
        <p:grpSp>
          <p:nvGrpSpPr>
            <p:cNvPr id="303" name="Google Shape;303;p22"/>
            <p:cNvGrpSpPr/>
            <p:nvPr/>
          </p:nvGrpSpPr>
          <p:grpSpPr>
            <a:xfrm>
              <a:off x="4905375" y="3162300"/>
              <a:ext cx="3571875" cy="228600"/>
              <a:chOff x="4905375" y="0"/>
              <a:chExt cx="3571875" cy="228600"/>
            </a:xfrm>
          </p:grpSpPr>
          <p:grpSp>
            <p:nvGrpSpPr>
              <p:cNvPr id="304" name="Google Shape;304;p22"/>
              <p:cNvGrpSpPr/>
              <p:nvPr/>
            </p:nvGrpSpPr>
            <p:grpSpPr>
              <a:xfrm>
                <a:off x="4905375" y="0"/>
                <a:ext cx="228600" cy="228600"/>
                <a:chOff x="0" y="0"/>
                <a:chExt cx="228600" cy="228600"/>
              </a:xfrm>
            </p:grpSpPr>
            <p:sp>
              <p:nvSpPr>
                <p:cNvPr id="305" name="Google Shape;305;p22"/>
                <p:cNvSpPr/>
                <p:nvPr/>
              </p:nvSpPr>
              <p:spPr>
                <a:xfrm>
                  <a:off x="0" y="0"/>
                  <a:ext cx="228600" cy="228600"/>
                </a:xfrm>
                <a:prstGeom prst="ellipse">
                  <a:avLst/>
                </a:prstGeom>
                <a:solidFill>
                  <a:srgbClr val="059669">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6" name="Google Shape;306;p22"/>
                <p:cNvSpPr/>
                <p:nvPr/>
              </p:nvSpPr>
              <p:spPr>
                <a:xfrm>
                  <a:off x="66675" y="80963"/>
                  <a:ext cx="95400" cy="66600"/>
                </a:xfrm>
                <a:custGeom>
                  <a:rect b="b" l="l" r="r" t="t"/>
                  <a:pathLst>
                    <a:path extrusionOk="0" h="120000" w="120000">
                      <a:moveTo>
                        <a:pt x="0" y="68571"/>
                      </a:moveTo>
                      <a:lnTo>
                        <a:pt x="36000" y="120000"/>
                      </a:lnTo>
                      <a:lnTo>
                        <a:pt x="120000" y="0"/>
                      </a:lnTo>
                    </a:path>
                  </a:pathLst>
                </a:custGeom>
                <a:solidFill>
                  <a:srgbClr val="000000">
                    <a:alpha val="0"/>
                  </a:srgbClr>
                </a:solidFill>
                <a:ln cap="rnd" cmpd="sng" w="19050">
                  <a:solidFill>
                    <a:srgbClr val="0596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307" name="Google Shape;307;p22"/>
              <p:cNvSpPr txBox="1"/>
              <p:nvPr/>
            </p:nvSpPr>
            <p:spPr>
              <a:xfrm>
                <a:off x="5238750" y="0"/>
                <a:ext cx="3238500" cy="228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200">
                    <a:solidFill>
                      <a:srgbClr val="0F172A"/>
                    </a:solidFill>
                    <a:latin typeface="Inter Medium"/>
                    <a:ea typeface="Inter Medium"/>
                    <a:cs typeface="Inter Medium"/>
                    <a:sym typeface="Inter Medium"/>
                  </a:rPr>
                  <a:t>Prototype Behavior Notes</a:t>
                </a:r>
                <a:endParaRPr b="0" sz="1200">
                  <a:solidFill>
                    <a:srgbClr val="0F172A"/>
                  </a:solidFill>
                  <a:latin typeface="Inter Medium"/>
                  <a:ea typeface="Inter Medium"/>
                  <a:cs typeface="Inter Medium"/>
                  <a:sym typeface="Inter Medium"/>
                </a:endParaRPr>
              </a:p>
            </p:txBody>
          </p:sp>
        </p:grpSp>
        <p:grpSp>
          <p:nvGrpSpPr>
            <p:cNvPr id="308" name="Google Shape;308;p22"/>
            <p:cNvGrpSpPr/>
            <p:nvPr/>
          </p:nvGrpSpPr>
          <p:grpSpPr>
            <a:xfrm>
              <a:off x="4905375" y="3714750"/>
              <a:ext cx="3619500" cy="714300"/>
              <a:chOff x="0" y="0"/>
              <a:chExt cx="3619500" cy="714300"/>
            </a:xfrm>
          </p:grpSpPr>
          <p:sp>
            <p:nvSpPr>
              <p:cNvPr id="309" name="Google Shape;309;p22"/>
              <p:cNvSpPr/>
              <p:nvPr/>
            </p:nvSpPr>
            <p:spPr>
              <a:xfrm>
                <a:off x="0" y="0"/>
                <a:ext cx="3619500" cy="714300"/>
              </a:xfrm>
              <a:prstGeom prst="roundRect">
                <a:avLst>
                  <a:gd fmla="val 8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0" name="Google Shape;310;p22"/>
              <p:cNvSpPr txBox="1"/>
              <p:nvPr/>
            </p:nvSpPr>
            <p:spPr>
              <a:xfrm>
                <a:off x="152400" y="114300"/>
                <a:ext cx="3314700" cy="485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 sz="1000">
                    <a:solidFill>
                      <a:srgbClr val="475569"/>
                    </a:solidFill>
                    <a:latin typeface="Inter"/>
                    <a:ea typeface="Inter"/>
                    <a:cs typeface="Inter"/>
                    <a:sym typeface="Inter"/>
                  </a:rPr>
                  <a:t>All validation details, backing calculations, and structured models are </a:t>
                </a:r>
                <a:r>
                  <a:rPr b="1" lang="en" sz="1000">
                    <a:solidFill>
                      <a:srgbClr val="2563EB"/>
                    </a:solidFill>
                    <a:latin typeface="Inter"/>
                    <a:ea typeface="Inter"/>
                    <a:cs typeface="Inter"/>
                    <a:sym typeface="Inter"/>
                  </a:rPr>
                  <a:t>available upon request</a:t>
                </a:r>
                <a:r>
                  <a:rPr b="0" lang="en" sz="1000">
                    <a:solidFill>
                      <a:srgbClr val="475569"/>
                    </a:solidFill>
                    <a:latin typeface="Inter"/>
                    <a:ea typeface="Inter"/>
                    <a:cs typeface="Inter"/>
                    <a:sym typeface="Inter"/>
                  </a:rPr>
                  <a:t>.</a:t>
                </a:r>
                <a:endParaRPr b="0" sz="1000">
                  <a:solidFill>
                    <a:srgbClr val="475569"/>
                  </a:solidFill>
                  <a:latin typeface="Inter"/>
                  <a:ea typeface="Inter"/>
                  <a:cs typeface="Inter"/>
                  <a:sym typeface="Inter"/>
                </a:endParaRPr>
              </a:p>
            </p:txBody>
          </p:sp>
        </p:grpSp>
      </p:gr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